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5" r:id="rId4"/>
    <p:sldId id="261" r:id="rId5"/>
    <p:sldId id="258" r:id="rId6"/>
    <p:sldId id="263" r:id="rId7"/>
    <p:sldId id="264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32" autoAdjust="0"/>
    <p:restoredTop sz="93304" autoAdjust="0"/>
  </p:normalViewPr>
  <p:slideViewPr>
    <p:cSldViewPr snapToGrid="0">
      <p:cViewPr varScale="1">
        <p:scale>
          <a:sx n="108" d="100"/>
          <a:sy n="108" d="100"/>
        </p:scale>
        <p:origin x="7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77619-E600-405B-A9C6-F5B024EC498D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F7BDD-8415-477C-947B-33829D48A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15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26EC8-BED5-4D64-9E71-36291B200A0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24FE9-D94E-455F-B531-F6738A64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69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26EC8-BED5-4D64-9E71-36291B200A0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24FE9-D94E-455F-B531-F6738A64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697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26EC8-BED5-4D64-9E71-36291B200A0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24FE9-D94E-455F-B531-F6738A64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397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26EC8-BED5-4D64-9E71-36291B200A0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24FE9-D94E-455F-B531-F6738A64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579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26EC8-BED5-4D64-9E71-36291B200A0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24FE9-D94E-455F-B531-F6738A64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045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26EC8-BED5-4D64-9E71-36291B200A0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24FE9-D94E-455F-B531-F6738A64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898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26EC8-BED5-4D64-9E71-36291B200A0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24FE9-D94E-455F-B531-F6738A64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996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26EC8-BED5-4D64-9E71-36291B200A0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24FE9-D94E-455F-B531-F6738A64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439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26EC8-BED5-4D64-9E71-36291B200A0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24FE9-D94E-455F-B531-F6738A64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746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26EC8-BED5-4D64-9E71-36291B200A0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24FE9-D94E-455F-B531-F6738A64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668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26EC8-BED5-4D64-9E71-36291B200A0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24FE9-D94E-455F-B531-F6738A64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438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868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126EC8-BED5-4D64-9E71-36291B200A0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24FE9-D94E-455F-B531-F6738A64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855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73" y="6157708"/>
            <a:ext cx="2861187" cy="60154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287915"/>
            <a:ext cx="12192000" cy="21636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3" y="-126460"/>
            <a:ext cx="12192000" cy="4520907"/>
          </a:xfrm>
          <a:prstGeom prst="rect">
            <a:avLst/>
          </a:prstGeom>
          <a:solidFill>
            <a:srgbClr val="00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GH" b="1" dirty="0">
              <a:solidFill>
                <a:schemeClr val="bg1"/>
              </a:solidFill>
            </a:endParaRPr>
          </a:p>
        </p:txBody>
      </p:sp>
      <p:sp>
        <p:nvSpPr>
          <p:cNvPr id="9" name="Text Box 1"/>
          <p:cNvSpPr txBox="1">
            <a:spLocks noChangeArrowheads="1"/>
          </p:cNvSpPr>
          <p:nvPr/>
        </p:nvSpPr>
        <p:spPr bwMode="auto">
          <a:xfrm>
            <a:off x="969245" y="697542"/>
            <a:ext cx="10253504" cy="1650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Perpetua" panose="02020502060401020303" pitchFamily="18" charset="0"/>
                <a:ea typeface="ＭＳ Ｐゴシック" panose="020B0600070205080204" pitchFamily="34" charset="-128"/>
                <a:cs typeface="Droid Sans Fallback"/>
              </a:defRPr>
            </a:lvl1pPr>
            <a:lvl2pPr>
              <a:spcBef>
                <a:spcPts val="3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Perpetua" panose="02020502060401020303" pitchFamily="18" charset="0"/>
                <a:ea typeface="ＭＳ Ｐゴシック" panose="020B0600070205080204" pitchFamily="34" charset="-128"/>
                <a:cs typeface="Droid Sans Fallback"/>
              </a:defRPr>
            </a:lvl2pPr>
            <a:lvl3pPr>
              <a:spcBef>
                <a:spcPts val="3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Perpetua" panose="02020502060401020303" pitchFamily="18" charset="0"/>
                <a:ea typeface="ＭＳ Ｐゴシック" panose="020B0600070205080204" pitchFamily="34" charset="-128"/>
                <a:cs typeface="Droid Sans Fallback"/>
              </a:defRPr>
            </a:lvl3pPr>
            <a:lvl4pPr>
              <a:spcBef>
                <a:spcPts val="3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Perpetua" panose="02020502060401020303" pitchFamily="18" charset="0"/>
                <a:ea typeface="ＭＳ Ｐゴシック" panose="020B0600070205080204" pitchFamily="34" charset="-128"/>
                <a:cs typeface="Droid Sans Fallback"/>
              </a:defRPr>
            </a:lvl4pPr>
            <a:lvl5pPr>
              <a:spcBef>
                <a:spcPts val="3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Perpetua" panose="02020502060401020303" pitchFamily="18" charset="0"/>
                <a:ea typeface="ＭＳ Ｐゴシック" panose="020B0600070205080204" pitchFamily="34" charset="-128"/>
                <a:cs typeface="Droid Sans Fallback"/>
              </a:defRPr>
            </a:lvl5pPr>
            <a:lvl6pPr marL="2514600" indent="-228600" defTabSz="4572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Perpetua" panose="02020502060401020303" pitchFamily="18" charset="0"/>
                <a:ea typeface="ＭＳ Ｐゴシック" panose="020B0600070205080204" pitchFamily="34" charset="-128"/>
                <a:cs typeface="Droid Sans Fallback"/>
              </a:defRPr>
            </a:lvl6pPr>
            <a:lvl7pPr marL="2971800" indent="-228600" defTabSz="4572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Perpetua" panose="02020502060401020303" pitchFamily="18" charset="0"/>
                <a:ea typeface="ＭＳ Ｐゴシック" panose="020B0600070205080204" pitchFamily="34" charset="-128"/>
                <a:cs typeface="Droid Sans Fallback"/>
              </a:defRPr>
            </a:lvl7pPr>
            <a:lvl8pPr marL="3429000" indent="-228600" defTabSz="4572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Perpetua" panose="02020502060401020303" pitchFamily="18" charset="0"/>
                <a:ea typeface="ＭＳ Ｐゴシック" panose="020B0600070205080204" pitchFamily="34" charset="-128"/>
                <a:cs typeface="Droid Sans Fallback"/>
              </a:defRPr>
            </a:lvl8pPr>
            <a:lvl9pPr marL="3886200" indent="-228600" defTabSz="4572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Perpetua" panose="02020502060401020303" pitchFamily="18" charset="0"/>
                <a:ea typeface="ＭＳ Ｐゴシック" panose="020B0600070205080204" pitchFamily="34" charset="-128"/>
                <a:cs typeface="Droid Sans Fallback"/>
              </a:defRPr>
            </a:lvl9pPr>
          </a:lstStyle>
          <a:p>
            <a:pPr algn="ctr" eaLnBrk="1" hangingPunct="1">
              <a:buClrTx/>
              <a:buSzPct val="85000"/>
              <a:buFontTx/>
              <a:buNone/>
            </a:pPr>
            <a:r>
              <a:rPr lang="en-US" altLang="en-GH" sz="4400" b="1" dirty="0">
                <a:solidFill>
                  <a:schemeClr val="bg1"/>
                </a:solidFill>
              </a:rPr>
              <a:t>Method of Repairing Glass for Display Device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5765D-04F3-64AC-63F6-AFE9DE663E5B}"/>
              </a:ext>
            </a:extLst>
          </p:cNvPr>
          <p:cNvSpPr txBox="1"/>
          <p:nvPr/>
        </p:nvSpPr>
        <p:spPr>
          <a:xfrm>
            <a:off x="3874796" y="3477110"/>
            <a:ext cx="44424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MATLAB Session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0F88AE1-BEE0-3EC5-B195-2C9B0741E6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1910" y="6224214"/>
            <a:ext cx="2861187" cy="5679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9E3A72-D412-B961-306A-A272FAB01FA9}"/>
              </a:ext>
            </a:extLst>
          </p:cNvPr>
          <p:cNvSpPr txBox="1"/>
          <p:nvPr/>
        </p:nvSpPr>
        <p:spPr>
          <a:xfrm>
            <a:off x="4241788" y="5302691"/>
            <a:ext cx="3708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September,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3C1C7F-FA27-720F-67D8-92EC9F45E49A}"/>
              </a:ext>
            </a:extLst>
          </p:cNvPr>
          <p:cNvSpPr txBox="1"/>
          <p:nvPr/>
        </p:nvSpPr>
        <p:spPr>
          <a:xfrm>
            <a:off x="4241788" y="4792750"/>
            <a:ext cx="3708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Gifty Osei, PhD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777283-1F76-74C0-10C3-21A149061124}"/>
              </a:ext>
            </a:extLst>
          </p:cNvPr>
          <p:cNvSpPr txBox="1"/>
          <p:nvPr/>
        </p:nvSpPr>
        <p:spPr>
          <a:xfrm>
            <a:off x="2237670" y="2223631"/>
            <a:ext cx="7470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Samsung Patent (US 12,428,339)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550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-11"/>
            <a:ext cx="12192000" cy="994299"/>
          </a:xfrm>
          <a:prstGeom prst="rect">
            <a:avLst/>
          </a:prstGeom>
          <a:solidFill>
            <a:srgbClr val="00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887758"/>
            <a:ext cx="12192000" cy="1065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23736" y="132031"/>
            <a:ext cx="11144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 Me!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CA33D2-C910-B8C3-17E0-A4449A997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257" y="1126331"/>
            <a:ext cx="5731670" cy="573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929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-11"/>
            <a:ext cx="12192000" cy="994299"/>
          </a:xfrm>
          <a:prstGeom prst="rect">
            <a:avLst/>
          </a:prstGeom>
          <a:solidFill>
            <a:srgbClr val="00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887758"/>
            <a:ext cx="12192000" cy="1065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23736" y="89931"/>
            <a:ext cx="11144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Repairing Glass Scratches with Laser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Final Samsung Video No Music.mp4">
            <a:hlinkClick r:id="" action="ppaction://media"/>
            <a:extLst>
              <a:ext uri="{FF2B5EF4-FFF2-40B4-BE49-F238E27FC236}">
                <a16:creationId xmlns:a16="http://schemas.microsoft.com/office/drawing/2014/main" id="{F0E505F0-B7B1-67AF-A469-25ACD35A71D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148" y="1045646"/>
            <a:ext cx="10189029" cy="573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81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20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9AABC-7BF4-B355-FD81-25D0FA4E8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8453C67-D408-0A0B-3EB6-0A68EA2375AF}"/>
              </a:ext>
            </a:extLst>
          </p:cNvPr>
          <p:cNvSpPr/>
          <p:nvPr/>
        </p:nvSpPr>
        <p:spPr>
          <a:xfrm>
            <a:off x="0" y="-11"/>
            <a:ext cx="12192000" cy="994299"/>
          </a:xfrm>
          <a:prstGeom prst="rect">
            <a:avLst/>
          </a:prstGeom>
          <a:solidFill>
            <a:srgbClr val="00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C75C51-BE15-31FA-4098-AC7B58FCBCB7}"/>
              </a:ext>
            </a:extLst>
          </p:cNvPr>
          <p:cNvSpPr/>
          <p:nvPr/>
        </p:nvSpPr>
        <p:spPr>
          <a:xfrm>
            <a:off x="0" y="887758"/>
            <a:ext cx="12192000" cy="1065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8F6946-4318-FC58-5D3B-37960A73280B}"/>
              </a:ext>
            </a:extLst>
          </p:cNvPr>
          <p:cNvSpPr txBox="1"/>
          <p:nvPr/>
        </p:nvSpPr>
        <p:spPr>
          <a:xfrm>
            <a:off x="523736" y="89931"/>
            <a:ext cx="11144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we most interested in?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DAFF159-37B6-3CC9-126C-855BD3F87A48}"/>
                  </a:ext>
                </a:extLst>
              </p:cNvPr>
              <p:cNvSpPr/>
              <p:nvPr/>
            </p:nvSpPr>
            <p:spPr>
              <a:xfrm>
                <a:off x="311702" y="1106172"/>
                <a:ext cx="7215534" cy="58477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400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sz="34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34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4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3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</a:t>
                </a:r>
                <a:r>
                  <a:rPr lang="en-US" sz="3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size of the heat affected zone.</a:t>
                </a:r>
              </a:p>
              <a:p>
                <a:endParaRPr lang="en-US" sz="34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3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Power delivered to the plate (x)</a:t>
                </a:r>
                <a:r>
                  <a:rPr lang="en-US" sz="3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How much energy, in watts, we put into the repair.</a:t>
                </a:r>
              </a:p>
              <a:p>
                <a:r>
                  <a:rPr lang="en-US" sz="3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r>
                  <a:rPr lang="en-US" sz="3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Exposure Time (y): </a:t>
                </a:r>
                <a:r>
                  <a:rPr lang="en-US" sz="3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How long, in seconds the laser stays on before it switches off. </a:t>
                </a:r>
              </a:p>
              <a:p>
                <a:pPr lvl="0">
                  <a:spcAft>
                    <a:spcPts val="0"/>
                  </a:spcAft>
                </a:pPr>
                <a:endParaRPr lang="en-US" sz="3400" dirty="0">
                  <a:latin typeface="Times New Roman" panose="02020603050405020304" pitchFamily="18" charset="0"/>
                  <a:ea typeface="MS Mincho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DAFF159-37B6-3CC9-126C-855BD3F87A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02" y="1106172"/>
                <a:ext cx="7215534" cy="5847755"/>
              </a:xfrm>
              <a:prstGeom prst="rect">
                <a:avLst/>
              </a:prstGeom>
              <a:blipFill>
                <a:blip r:embed="rId4"/>
                <a:stretch>
                  <a:fillRect l="-2285" t="-1299" r="-2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What are we optimizing_.mp4">
            <a:hlinkClick r:id="" action="ppaction://media"/>
            <a:extLst>
              <a:ext uri="{FF2B5EF4-FFF2-40B4-BE49-F238E27FC236}">
                <a16:creationId xmlns:a16="http://schemas.microsoft.com/office/drawing/2014/main" id="{10E01ABC-6821-B739-9BB6-8A1F4459DDD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017168" y="1084229"/>
            <a:ext cx="3450725" cy="566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969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2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E2796-5131-96C3-1B43-5E099A917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0850E72-C066-9F0F-5A2F-B835AC494950}"/>
              </a:ext>
            </a:extLst>
          </p:cNvPr>
          <p:cNvSpPr/>
          <p:nvPr/>
        </p:nvSpPr>
        <p:spPr>
          <a:xfrm>
            <a:off x="0" y="-11"/>
            <a:ext cx="12192000" cy="994299"/>
          </a:xfrm>
          <a:prstGeom prst="rect">
            <a:avLst/>
          </a:prstGeom>
          <a:solidFill>
            <a:srgbClr val="00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49FE08-4CEF-75EB-5074-2492E024E0EA}"/>
              </a:ext>
            </a:extLst>
          </p:cNvPr>
          <p:cNvSpPr/>
          <p:nvPr/>
        </p:nvSpPr>
        <p:spPr>
          <a:xfrm>
            <a:off x="0" y="887758"/>
            <a:ext cx="12192000" cy="1065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9AFC6F-AB48-4C8E-4BA6-4F8A759DECDC}"/>
              </a:ext>
            </a:extLst>
          </p:cNvPr>
          <p:cNvSpPr txBox="1"/>
          <p:nvPr/>
        </p:nvSpPr>
        <p:spPr>
          <a:xfrm>
            <a:off x="523736" y="89931"/>
            <a:ext cx="11144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Function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772C11C-DC2B-5F34-D6B8-C8B1D11F49D0}"/>
                  </a:ext>
                </a:extLst>
              </p:cNvPr>
              <p:cNvSpPr txBox="1"/>
              <p:nvPr/>
            </p:nvSpPr>
            <p:spPr>
              <a:xfrm>
                <a:off x="3055841" y="2142613"/>
                <a:ext cx="6422912" cy="20690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4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3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3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en-US" sz="3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400" i="1">
                          <a:latin typeface="Cambria Math" panose="02040503050406030204" pitchFamily="18" charset="0"/>
                        </a:rPr>
                        <m:t>)</m:t>
                      </m:r>
                      <m:rad>
                        <m:radPr>
                          <m:degHide m:val="on"/>
                          <m:ctrlPr>
                            <a:rPr lang="en-US" sz="3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US" sz="34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4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3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  <m:t>𝐴𝑥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  <m:t>∆</m:t>
                                      </m:r>
                                      <m:sSub>
                                        <m:sSubPr>
                                          <m:ctrlP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  <m:t>𝑡ℎ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rad>
                    </m:oMath>
                  </m:oMathPara>
                </a14:m>
                <a:endParaRPr lang="en-US" sz="3400" dirty="0"/>
              </a:p>
              <a:p>
                <a:endParaRPr lang="en-US" sz="3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772C11C-DC2B-5F34-D6B8-C8B1D11F4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841" y="2142613"/>
                <a:ext cx="6422912" cy="20690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F322D2A-340F-6AF3-4D01-930A6653B277}"/>
              </a:ext>
            </a:extLst>
          </p:cNvPr>
          <p:cNvSpPr txBox="1"/>
          <p:nvPr/>
        </p:nvSpPr>
        <p:spPr>
          <a:xfrm>
            <a:off x="336393" y="1243592"/>
            <a:ext cx="380010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Objective Function: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3991B9-7A6B-CA08-4BBB-E60FDE377EEE}"/>
                  </a:ext>
                </a:extLst>
              </p:cNvPr>
              <p:cNvSpPr txBox="1"/>
              <p:nvPr/>
            </p:nvSpPr>
            <p:spPr>
              <a:xfrm>
                <a:off x="523736" y="4349745"/>
                <a:ext cx="10484690" cy="1959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0000"/>
                  </a:lnSpc>
                  <a:spcAft>
                    <a:spcPts val="400"/>
                  </a:spcAft>
                  <a:buNone/>
                </a:pPr>
                <a:r>
                  <a:rPr lang="en-US" sz="2800" b="1" dirty="0">
                    <a:solidFill>
                      <a:schemeClr val="tx1"/>
                    </a:solidFill>
                    <a:effectLst/>
                    <a:latin typeface="+mn-lt"/>
                    <a:ea typeface="Calibri" panose="020F0502020204030204" pitchFamily="34" charset="0"/>
                  </a:rPr>
                  <a:t>A</a:t>
                </a:r>
                <a:r>
                  <a:rPr lang="en-US" sz="2800" dirty="0">
                    <a:solidFill>
                      <a:schemeClr val="tx1"/>
                    </a:solidFill>
                    <a:effectLst/>
                    <a:latin typeface="+mn-lt"/>
                    <a:ea typeface="Calibri" panose="020F0502020204030204" pitchFamily="34" charset="0"/>
                  </a:rPr>
                  <a:t>: a fixed constant combining the glass's thermal conductivity, density, and heat capacity</a:t>
                </a:r>
              </a:p>
              <a:p>
                <a:pPr>
                  <a:spcAft>
                    <a:spcPts val="4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𝒆𝒇𝒇</m:t>
                        </m:r>
                      </m:sub>
                    </m:sSub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800" dirty="0">
                    <a:ea typeface="Calibri" panose="020F0502020204030204" pitchFamily="34" charset="0"/>
                  </a:rPr>
                  <a:t>:</a:t>
                </a:r>
                <a:r>
                  <a:rPr lang="en-US" sz="2800" dirty="0">
                    <a:solidFill>
                      <a:schemeClr val="tx1"/>
                    </a:solidFill>
                    <a:effectLst/>
                    <a:latin typeface="+mn-lt"/>
                    <a:ea typeface="Calibri" panose="020F0502020204030204" pitchFamily="34" charset="0"/>
                  </a:rPr>
                  <a:t> the effective heated width of the heating plate.</a:t>
                </a:r>
              </a:p>
              <a:p>
                <a:pPr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2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∆</m:t>
                    </m:r>
                    <m:sSub>
                      <m:sSubPr>
                        <m:ctrlPr>
                          <a:rPr lang="en-US" sz="2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𝒕𝒉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  <a:effectLst/>
                    <a:latin typeface="+mn-lt"/>
                    <a:ea typeface="Calibri" panose="020F0502020204030204" pitchFamily="34" charset="0"/>
                  </a:rPr>
                  <a:t>: is the temperature-rise threshold of the affected zone.</a:t>
                </a:r>
                <a:endParaRPr lang="en-US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3991B9-7A6B-CA08-4BBB-E60FDE377E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36" y="4349745"/>
                <a:ext cx="10484690" cy="1959319"/>
              </a:xfrm>
              <a:prstGeom prst="rect">
                <a:avLst/>
              </a:prstGeom>
              <a:blipFill>
                <a:blip r:embed="rId3"/>
                <a:stretch>
                  <a:fillRect l="-1211" t="-3226" r="-605" b="-7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960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AC2A-3287-7279-86FA-ECC05DE4D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DC8A85C-A195-C4DD-E007-79AEF8203D8F}"/>
              </a:ext>
            </a:extLst>
          </p:cNvPr>
          <p:cNvSpPr/>
          <p:nvPr/>
        </p:nvSpPr>
        <p:spPr>
          <a:xfrm>
            <a:off x="0" y="-11"/>
            <a:ext cx="12192000" cy="994299"/>
          </a:xfrm>
          <a:prstGeom prst="rect">
            <a:avLst/>
          </a:prstGeom>
          <a:solidFill>
            <a:srgbClr val="00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11EB84-08F3-3615-6FBF-BCBB084F20F4}"/>
              </a:ext>
            </a:extLst>
          </p:cNvPr>
          <p:cNvSpPr/>
          <p:nvPr/>
        </p:nvSpPr>
        <p:spPr>
          <a:xfrm>
            <a:off x="0" y="887758"/>
            <a:ext cx="12192000" cy="1065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FD3A9D-2EBE-E01B-2EB0-51AF0904BAE4}"/>
              </a:ext>
            </a:extLst>
          </p:cNvPr>
          <p:cNvSpPr txBox="1"/>
          <p:nvPr/>
        </p:nvSpPr>
        <p:spPr>
          <a:xfrm>
            <a:off x="523736" y="89931"/>
            <a:ext cx="11144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Constraints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23D1728-5DEB-7128-6946-E07720C93678}"/>
                  </a:ext>
                </a:extLst>
              </p:cNvPr>
              <p:cNvSpPr txBox="1"/>
              <p:nvPr/>
            </p:nvSpPr>
            <p:spPr>
              <a:xfrm>
                <a:off x="3898832" y="2368124"/>
                <a:ext cx="3705565" cy="5650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400" b="0" i="1" smtClean="0">
                              <a:latin typeface="Cambria Math" panose="02040503050406030204" pitchFamily="18" charset="0"/>
                            </a:rPr>
                            <m:t>𝑓𝑟𝑜𝑛𝑡</m:t>
                          </m:r>
                        </m:sub>
                      </m:sSub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)≤</m:t>
                      </m:r>
                      <m:sSub>
                        <m:sSubPr>
                          <m:ctrlPr>
                            <a:rPr lang="en-US" sz="3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𝑠𝑜𝑓𝑡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23D1728-5DEB-7128-6946-E07720C93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832" y="2368124"/>
                <a:ext cx="3705565" cy="565091"/>
              </a:xfrm>
              <a:prstGeom prst="rect">
                <a:avLst/>
              </a:prstGeom>
              <a:blipFill>
                <a:blip r:embed="rId2"/>
                <a:stretch>
                  <a:fillRect l="-2397" r="-137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9E814EC-E250-5C76-FC2F-428F6ECC7475}"/>
                  </a:ext>
                </a:extLst>
              </p:cNvPr>
              <p:cNvSpPr txBox="1"/>
              <p:nvPr/>
            </p:nvSpPr>
            <p:spPr>
              <a:xfrm>
                <a:off x="3801300" y="4910758"/>
                <a:ext cx="4589398" cy="5461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400" b="0" i="1" smtClean="0">
                              <a:latin typeface="Cambria Math" panose="02040503050406030204" pitchFamily="18" charset="0"/>
                            </a:rPr>
                            <m:t>𝑏𝑎𝑐𝑘</m:t>
                          </m:r>
                        </m:sub>
                      </m:sSub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)≤</m:t>
                      </m:r>
                      <m:sSub>
                        <m:sSubPr>
                          <m:ctrlPr>
                            <a:rPr lang="en-US" sz="3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𝑏𝑎𝑐𝑘</m:t>
                          </m:r>
                        </m:sub>
                      </m:sSub>
                    </m:oMath>
                  </m:oMathPara>
                </a14:m>
                <a:endParaRPr lang="en-US" sz="3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9E814EC-E250-5C76-FC2F-428F6ECC7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300" y="4910758"/>
                <a:ext cx="4589398" cy="546175"/>
              </a:xfrm>
              <a:prstGeom prst="rect">
                <a:avLst/>
              </a:prstGeom>
              <a:blipFill>
                <a:blip r:embed="rId3"/>
                <a:stretch>
                  <a:fillRect l="-552" b="-3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C1644B8-9008-4873-EAF4-2373D1266A12}"/>
                  </a:ext>
                </a:extLst>
              </p:cNvPr>
              <p:cNvSpPr/>
              <p:nvPr/>
            </p:nvSpPr>
            <p:spPr>
              <a:xfrm>
                <a:off x="523736" y="1181564"/>
                <a:ext cx="11753628" cy="11194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scratch must reach the temperature at which the glass softens: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750</m:t>
                        </m:r>
                      </m:e>
                      <m:sup>
                        <m:r>
                          <a:rPr lang="en-US" sz="32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0</m:t>
                        </m:r>
                      </m:sup>
                    </m:sSup>
                    <m:r>
                      <a:rPr lang="en-US" sz="32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C1644B8-9008-4873-EAF4-2373D1266A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36" y="1181564"/>
                <a:ext cx="11753628" cy="1119409"/>
              </a:xfrm>
              <a:prstGeom prst="rect">
                <a:avLst/>
              </a:prstGeom>
              <a:blipFill>
                <a:blip r:embed="rId4"/>
                <a:stretch>
                  <a:fillRect l="-972" t="-7955" b="-14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3C8588C-A745-CB5A-5634-B9FD53552026}"/>
                  </a:ext>
                </a:extLst>
              </p:cNvPr>
              <p:cNvSpPr/>
              <p:nvPr/>
            </p:nvSpPr>
            <p:spPr>
              <a:xfrm>
                <a:off x="523736" y="3667108"/>
                <a:ext cx="11753628" cy="11194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temperature of the good side must be below a safe limit to avoid distortion: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0</m:t>
                        </m:r>
                      </m:sup>
                    </m:sSup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3C8588C-A745-CB5A-5634-B9FD535520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36" y="3667108"/>
                <a:ext cx="11753628" cy="1119409"/>
              </a:xfrm>
              <a:prstGeom prst="rect">
                <a:avLst/>
              </a:prstGeom>
              <a:blipFill>
                <a:blip r:embed="rId5"/>
                <a:stretch>
                  <a:fillRect l="-972" t="-6742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7256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C7FB2-468B-FDD4-7EA7-A42F175B3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CDD10D-16B9-1DDD-257C-42075E8ED938}"/>
              </a:ext>
            </a:extLst>
          </p:cNvPr>
          <p:cNvSpPr/>
          <p:nvPr/>
        </p:nvSpPr>
        <p:spPr>
          <a:xfrm>
            <a:off x="0" y="-11"/>
            <a:ext cx="12192000" cy="994299"/>
          </a:xfrm>
          <a:prstGeom prst="rect">
            <a:avLst/>
          </a:prstGeom>
          <a:solidFill>
            <a:srgbClr val="00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A1D683-F684-DDF5-46E7-44B5654BF49E}"/>
              </a:ext>
            </a:extLst>
          </p:cNvPr>
          <p:cNvSpPr/>
          <p:nvPr/>
        </p:nvSpPr>
        <p:spPr>
          <a:xfrm>
            <a:off x="0" y="887758"/>
            <a:ext cx="12192000" cy="1065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B5BB31-91A8-71CD-7555-32EAC73803A2}"/>
              </a:ext>
            </a:extLst>
          </p:cNvPr>
          <p:cNvSpPr txBox="1"/>
          <p:nvPr/>
        </p:nvSpPr>
        <p:spPr>
          <a:xfrm>
            <a:off x="523736" y="89931"/>
            <a:ext cx="11144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Constraints - Last One, I Promise!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5752BE-B8BF-B35B-1FF5-6C1422265B90}"/>
                  </a:ext>
                </a:extLst>
              </p:cNvPr>
              <p:cNvSpPr txBox="1"/>
              <p:nvPr/>
            </p:nvSpPr>
            <p:spPr>
              <a:xfrm>
                <a:off x="3965685" y="2867675"/>
                <a:ext cx="3928768" cy="20928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0.01, 0.40 </m:t>
                          </m:r>
                        </m:e>
                      </m:d>
                      <m:r>
                        <a:rPr lang="en-US" sz="3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3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sz="3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3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3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3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3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0.01, 3.0</m:t>
                          </m:r>
                        </m:e>
                      </m:d>
                      <m:r>
                        <a:rPr lang="en-US" sz="3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sz="3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5752BE-B8BF-B35B-1FF5-6C1422265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685" y="2867675"/>
                <a:ext cx="3928768" cy="2092881"/>
              </a:xfrm>
              <a:prstGeom prst="rect">
                <a:avLst/>
              </a:prstGeom>
              <a:blipFill>
                <a:blip r:embed="rId2"/>
                <a:stretch>
                  <a:fillRect t="-1807" r="-645" b="-8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290AA3B-881F-51A9-B0BA-5B121DDDB1C7}"/>
              </a:ext>
            </a:extLst>
          </p:cNvPr>
          <p:cNvSpPr/>
          <p:nvPr/>
        </p:nvSpPr>
        <p:spPr>
          <a:xfrm>
            <a:off x="523736" y="1343448"/>
            <a:ext cx="1175362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The power (x) and exposure time (y) must fall within a specified range</a:t>
            </a:r>
          </a:p>
        </p:txBody>
      </p:sp>
    </p:spTree>
    <p:extLst>
      <p:ext uri="{BB962C8B-B14F-4D97-AF65-F5344CB8AC3E}">
        <p14:creationId xmlns:p14="http://schemas.microsoft.com/office/powerpoint/2010/main" val="704132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4570"/>
            <a:ext cx="12191695" cy="4572000"/>
          </a:xfrm>
          <a:prstGeom prst="rect">
            <a:avLst/>
          </a:prstGeom>
          <a:solidFill>
            <a:srgbClr val="0033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9506"/>
            <a:ext cx="12191695" cy="54864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005841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Find the Perfect </a:t>
            </a: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</a:t>
            </a: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fix the Scratch!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“</a:t>
            </a:r>
            <a:r>
              <a:rPr lang="en-US" sz="2800" b="1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laser_repair_optimization_xy.m</a:t>
            </a: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 MATLAB</a:t>
            </a:r>
            <a:endParaRPr lang="en-US" sz="2800" b="1" dirty="0"/>
          </a:p>
        </p:txBody>
      </p:sp>
      <p:pic>
        <p:nvPicPr>
          <p:cNvPr id="6" name="Image 0" descr="logo_u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43" y="6025289"/>
            <a:ext cx="2699646" cy="568141"/>
          </a:xfrm>
          <a:prstGeom prst="rect">
            <a:avLst/>
          </a:prstGeom>
        </p:spPr>
      </p:pic>
      <p:pic>
        <p:nvPicPr>
          <p:cNvPr id="7" name="Image 1" descr="logo_afret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4781" y="6116729"/>
            <a:ext cx="2855893" cy="5681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5998</TotalTime>
  <Words>260</Words>
  <Application>Microsoft Macintosh PowerPoint</Application>
  <PresentationFormat>Widescreen</PresentationFormat>
  <Paragraphs>33</Paragraphs>
  <Slides>8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Cambria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 Broni</dc:creator>
  <cp:lastModifiedBy>Gifty</cp:lastModifiedBy>
  <cp:revision>300</cp:revision>
  <dcterms:created xsi:type="dcterms:W3CDTF">2022-04-10T18:31:01Z</dcterms:created>
  <dcterms:modified xsi:type="dcterms:W3CDTF">2026-09-15T06:47:33Z</dcterms:modified>
</cp:coreProperties>
</file>