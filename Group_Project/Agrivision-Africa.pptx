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Work Sans" panose="020B0604020202020204" charset="0"/>
      <p:regular r:id="rId23"/>
    </p:embeddedFont>
    <p:embeddedFont>
      <p:font typeface="Times New Roman" panose="02020603050405020304" pitchFamily="18" charset="0"/>
      <p:regular r:id="rId24"/>
    </p:embeddedFont>
    <p:embeddedFont>
      <p:font typeface="Inter Bold" panose="020B0604020202020204" charset="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Work Sans Bold" panose="020B0604020202020204" charset="0"/>
      <p:regular r:id="rId30"/>
    </p:embeddedFont>
    <p:embeddedFont>
      <p:font typeface="League Spartan" panose="020B0604020202020204" charset="0"/>
      <p:regular r:id="rId31"/>
    </p:embeddedFont>
    <p:embeddedFont>
      <p:font typeface="Times New Roman Italics" panose="020B0604020202020204" charset="0"/>
      <p:regular r:id="rId32"/>
    </p:embeddedFont>
    <p:embeddedFont>
      <p:font typeface="Times New Roman Bold" panose="02020803070505020304" pitchFamily="18" charset="0"/>
      <p:regular r:id="rId33"/>
      <p:bold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ads</a:t>
            </a:r>
          </a:p>
          <a:p>
            <a:endParaRPr lang="en-US"/>
          </a:p>
          <a:p>
            <a:r>
              <a:rPr lang="en-US"/>
              <a:t>- localize (by africa, for africa)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o.org/one-health/highlights/quelea-birds-and-the-case-for-safer-control/en?utm_source=chatgpt.com" TargetMode="External"/><Relationship Id="rId2" Type="http://schemas.openxmlformats.org/officeDocument/2006/relationships/hyperlink" Target="https://ourworldindata.org/smallholder-food-production?utm_source=chatgpt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29522"/>
            <a:ext cx="8058607" cy="10057478"/>
            <a:chOff x="0" y="0"/>
            <a:chExt cx="12769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6981" cy="1593725"/>
            </a:xfrm>
            <a:custGeom>
              <a:avLst/>
              <a:gdLst/>
              <a:ahLst/>
              <a:cxnLst/>
              <a:rect l="l" t="t" r="r" b="b"/>
              <a:pathLst>
                <a:path w="1276981" h="1593725">
                  <a:moveTo>
                    <a:pt x="0" y="0"/>
                  </a:moveTo>
                  <a:lnTo>
                    <a:pt x="1276981" y="0"/>
                  </a:lnTo>
                  <a:lnTo>
                    <a:pt x="12769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33202" r="-3320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10800000">
            <a:off x="0" y="5689896"/>
            <a:ext cx="7813890" cy="4597104"/>
            <a:chOff x="0" y="0"/>
            <a:chExt cx="2057979" cy="1210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57979" cy="1210760"/>
            </a:xfrm>
            <a:custGeom>
              <a:avLst/>
              <a:gdLst/>
              <a:ahLst/>
              <a:cxnLst/>
              <a:rect l="l" t="t" r="r" b="b"/>
              <a:pathLst>
                <a:path w="2057979" h="1210760">
                  <a:moveTo>
                    <a:pt x="0" y="0"/>
                  </a:moveTo>
                  <a:lnTo>
                    <a:pt x="2057979" y="0"/>
                  </a:lnTo>
                  <a:lnTo>
                    <a:pt x="2057979" y="1210760"/>
                  </a:lnTo>
                  <a:lnTo>
                    <a:pt x="0" y="1210760"/>
                  </a:lnTo>
                  <a:close/>
                </a:path>
              </a:pathLst>
            </a:custGeom>
            <a:gradFill rotWithShape="1">
              <a:gsLst>
                <a:gs pos="0">
                  <a:srgbClr val="535B29">
                    <a:alpha val="100000"/>
                  </a:srgbClr>
                </a:gs>
                <a:gs pos="100000">
                  <a:srgbClr val="535B29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57979" cy="1248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9144000" y="6443355"/>
            <a:ext cx="8115300" cy="0"/>
          </a:xfrm>
          <a:prstGeom prst="line">
            <a:avLst/>
          </a:prstGeom>
          <a:ln w="38100" cap="flat">
            <a:solidFill>
              <a:srgbClr val="535B2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0" y="7200900"/>
            <a:ext cx="229522" cy="3086100"/>
            <a:chOff x="0" y="0"/>
            <a:chExt cx="6045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0450" cy="812800"/>
            </a:xfrm>
            <a:custGeom>
              <a:avLst/>
              <a:gdLst/>
              <a:ahLst/>
              <a:cxnLst/>
              <a:rect l="l" t="t" r="r" b="b"/>
              <a:pathLst>
                <a:path w="60450" h="812800">
                  <a:moveTo>
                    <a:pt x="0" y="0"/>
                  </a:moveTo>
                  <a:lnTo>
                    <a:pt x="60450" y="0"/>
                  </a:lnTo>
                  <a:lnTo>
                    <a:pt x="6045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6045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428289" y="8629189"/>
            <a:ext cx="229522" cy="3086100"/>
            <a:chOff x="0" y="0"/>
            <a:chExt cx="6045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450" cy="812800"/>
            </a:xfrm>
            <a:custGeom>
              <a:avLst/>
              <a:gdLst/>
              <a:ahLst/>
              <a:cxnLst/>
              <a:rect l="l" t="t" r="r" b="b"/>
              <a:pathLst>
                <a:path w="60450" h="812800">
                  <a:moveTo>
                    <a:pt x="0" y="0"/>
                  </a:moveTo>
                  <a:lnTo>
                    <a:pt x="60450" y="0"/>
                  </a:lnTo>
                  <a:lnTo>
                    <a:pt x="6045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6045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6156079" y="-1428289"/>
            <a:ext cx="229522" cy="3086100"/>
            <a:chOff x="0" y="0"/>
            <a:chExt cx="6045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450" cy="812800"/>
            </a:xfrm>
            <a:custGeom>
              <a:avLst/>
              <a:gdLst/>
              <a:ahLst/>
              <a:cxnLst/>
              <a:rect l="l" t="t" r="r" b="b"/>
              <a:pathLst>
                <a:path w="60450" h="812800">
                  <a:moveTo>
                    <a:pt x="0" y="0"/>
                  </a:moveTo>
                  <a:lnTo>
                    <a:pt x="60450" y="0"/>
                  </a:lnTo>
                  <a:lnTo>
                    <a:pt x="6045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045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84368" y="0"/>
            <a:ext cx="229522" cy="3086100"/>
            <a:chOff x="0" y="0"/>
            <a:chExt cx="6045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0450" cy="812800"/>
            </a:xfrm>
            <a:custGeom>
              <a:avLst/>
              <a:gdLst/>
              <a:ahLst/>
              <a:cxnLst/>
              <a:rect l="l" t="t" r="r" b="b"/>
              <a:pathLst>
                <a:path w="60450" h="812800">
                  <a:moveTo>
                    <a:pt x="0" y="0"/>
                  </a:moveTo>
                  <a:lnTo>
                    <a:pt x="60450" y="0"/>
                  </a:lnTo>
                  <a:lnTo>
                    <a:pt x="6045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6045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1559605" y="323635"/>
            <a:ext cx="3321218" cy="2467190"/>
          </a:xfrm>
          <a:custGeom>
            <a:avLst/>
            <a:gdLst/>
            <a:ahLst/>
            <a:cxnLst/>
            <a:rect l="l" t="t" r="r" b="b"/>
            <a:pathLst>
              <a:path w="3321218" h="2467190">
                <a:moveTo>
                  <a:pt x="0" y="0"/>
                </a:moveTo>
                <a:lnTo>
                  <a:pt x="3321218" y="0"/>
                </a:lnTo>
                <a:lnTo>
                  <a:pt x="3321218" y="2467190"/>
                </a:lnTo>
                <a:lnTo>
                  <a:pt x="0" y="24671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343849" y="8391525"/>
            <a:ext cx="3561350" cy="1665953"/>
          </a:xfrm>
          <a:custGeom>
            <a:avLst/>
            <a:gdLst/>
            <a:ahLst/>
            <a:cxnLst/>
            <a:rect l="l" t="t" r="r" b="b"/>
            <a:pathLst>
              <a:path w="3561350" h="1665953">
                <a:moveTo>
                  <a:pt x="0" y="0"/>
                </a:moveTo>
                <a:lnTo>
                  <a:pt x="3561350" y="0"/>
                </a:lnTo>
                <a:lnTo>
                  <a:pt x="3561350" y="1665953"/>
                </a:lnTo>
                <a:lnTo>
                  <a:pt x="0" y="16659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717514" y="3019425"/>
            <a:ext cx="9005399" cy="3258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7"/>
              </a:lnSpc>
              <a:spcBef>
                <a:spcPct val="0"/>
              </a:spcBef>
            </a:pPr>
            <a:r>
              <a:rPr lang="en-US" sz="3719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AI-Based Bird Detection and Deterrence Using Acoustic and Vision-Based Decision Fusion For Crop Protection In Agricultural Farms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30757" y="6743700"/>
            <a:ext cx="8578913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0"/>
              </a:lnSpc>
            </a:pPr>
            <a:r>
              <a:rPr lang="en-US" sz="2942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Nathaniel Adika, Salma Guennoun, Grace Njogu, Gift Vundla, Thuwaybah Mohammad</a:t>
            </a:r>
          </a:p>
          <a:p>
            <a:pPr algn="ctr">
              <a:lnSpc>
                <a:spcPts val="3530"/>
              </a:lnSpc>
            </a:pPr>
            <a:r>
              <a:rPr lang="en-US" sz="2942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September 16th, 2026</a:t>
            </a:r>
          </a:p>
        </p:txBody>
      </p:sp>
      <p:sp>
        <p:nvSpPr>
          <p:cNvPr id="24" name="Freeform 24"/>
          <p:cNvSpPr/>
          <p:nvPr/>
        </p:nvSpPr>
        <p:spPr>
          <a:xfrm>
            <a:off x="16369385" y="7988448"/>
            <a:ext cx="1695062" cy="2155677"/>
          </a:xfrm>
          <a:custGeom>
            <a:avLst/>
            <a:gdLst/>
            <a:ahLst/>
            <a:cxnLst/>
            <a:rect l="l" t="t" r="r" b="b"/>
            <a:pathLst>
              <a:path w="1695062" h="2155677">
                <a:moveTo>
                  <a:pt x="0" y="0"/>
                </a:moveTo>
                <a:lnTo>
                  <a:pt x="1695062" y="0"/>
                </a:lnTo>
                <a:lnTo>
                  <a:pt x="1695062" y="2155677"/>
                </a:lnTo>
                <a:lnTo>
                  <a:pt x="0" y="21556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7561" y="1633815"/>
            <a:ext cx="1037949" cy="1037949"/>
            <a:chOff x="0" y="0"/>
            <a:chExt cx="301143" cy="3011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143" cy="301143"/>
            </a:xfrm>
            <a:custGeom>
              <a:avLst/>
              <a:gdLst/>
              <a:ahLst/>
              <a:cxnLst/>
              <a:rect l="l" t="t" r="r" b="b"/>
              <a:pathLst>
                <a:path w="301143" h="301143">
                  <a:moveTo>
                    <a:pt x="0" y="0"/>
                  </a:moveTo>
                  <a:lnTo>
                    <a:pt x="301143" y="0"/>
                  </a:lnTo>
                  <a:lnTo>
                    <a:pt x="301143" y="301143"/>
                  </a:lnTo>
                  <a:lnTo>
                    <a:pt x="0" y="301143"/>
                  </a:lnTo>
                  <a:close/>
                </a:path>
              </a:pathLst>
            </a:custGeom>
            <a:solidFill>
              <a:srgbClr val="535B2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1143" cy="348768"/>
            </a:xfrm>
            <a:prstGeom prst="rect">
              <a:avLst/>
            </a:prstGeom>
          </p:spPr>
          <p:txBody>
            <a:bodyPr lIns="36189" tIns="36189" rIns="36189" bIns="36189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7537" y="3457790"/>
            <a:ext cx="1037949" cy="1037949"/>
            <a:chOff x="0" y="0"/>
            <a:chExt cx="301143" cy="3011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1143" cy="301143"/>
            </a:xfrm>
            <a:custGeom>
              <a:avLst/>
              <a:gdLst/>
              <a:ahLst/>
              <a:cxnLst/>
              <a:rect l="l" t="t" r="r" b="b"/>
              <a:pathLst>
                <a:path w="301143" h="301143">
                  <a:moveTo>
                    <a:pt x="0" y="0"/>
                  </a:moveTo>
                  <a:lnTo>
                    <a:pt x="301143" y="0"/>
                  </a:lnTo>
                  <a:lnTo>
                    <a:pt x="301143" y="301143"/>
                  </a:lnTo>
                  <a:lnTo>
                    <a:pt x="0" y="301143"/>
                  </a:lnTo>
                  <a:close/>
                </a:path>
              </a:pathLst>
            </a:custGeom>
            <a:solidFill>
              <a:srgbClr val="535B2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01143" cy="348768"/>
            </a:xfrm>
            <a:prstGeom prst="rect">
              <a:avLst/>
            </a:prstGeom>
          </p:spPr>
          <p:txBody>
            <a:bodyPr lIns="36189" tIns="36189" rIns="36189" bIns="36189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7561" y="5468208"/>
            <a:ext cx="1037949" cy="1037949"/>
            <a:chOff x="0" y="0"/>
            <a:chExt cx="301143" cy="3011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1143" cy="301143"/>
            </a:xfrm>
            <a:custGeom>
              <a:avLst/>
              <a:gdLst/>
              <a:ahLst/>
              <a:cxnLst/>
              <a:rect l="l" t="t" r="r" b="b"/>
              <a:pathLst>
                <a:path w="301143" h="301143">
                  <a:moveTo>
                    <a:pt x="0" y="0"/>
                  </a:moveTo>
                  <a:lnTo>
                    <a:pt x="301143" y="0"/>
                  </a:lnTo>
                  <a:lnTo>
                    <a:pt x="301143" y="301143"/>
                  </a:lnTo>
                  <a:lnTo>
                    <a:pt x="0" y="301143"/>
                  </a:lnTo>
                  <a:close/>
                </a:path>
              </a:pathLst>
            </a:custGeom>
            <a:solidFill>
              <a:srgbClr val="535B29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01143" cy="348768"/>
            </a:xfrm>
            <a:prstGeom prst="rect">
              <a:avLst/>
            </a:prstGeom>
          </p:spPr>
          <p:txBody>
            <a:bodyPr lIns="36189" tIns="36189" rIns="36189" bIns="36189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42832" y="512727"/>
            <a:ext cx="1052124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Search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65785" y="209550"/>
            <a:ext cx="8462353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Presentation Outline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77611" y="1845899"/>
            <a:ext cx="877900" cy="60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2"/>
              </a:lnSpc>
            </a:pPr>
            <a:r>
              <a:rPr lang="en-US" sz="39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7561" y="3669874"/>
            <a:ext cx="877900" cy="60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2"/>
              </a:lnSpc>
            </a:pPr>
            <a:r>
              <a:rPr lang="en-US" sz="39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7561" y="5714939"/>
            <a:ext cx="877900" cy="60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2"/>
              </a:lnSpc>
            </a:pPr>
            <a:r>
              <a:rPr lang="en-US" sz="39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9739" y="1865225"/>
            <a:ext cx="5269155" cy="44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sz="25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36536" y="3718618"/>
            <a:ext cx="5269155" cy="44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sz="25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 and Context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7586" y="5495864"/>
            <a:ext cx="5269155" cy="44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sz="25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id="19" name="Freeform 19"/>
          <p:cNvSpPr/>
          <p:nvPr/>
        </p:nvSpPr>
        <p:spPr>
          <a:xfrm>
            <a:off x="-206523" y="125428"/>
            <a:ext cx="1605285" cy="1192498"/>
          </a:xfrm>
          <a:custGeom>
            <a:avLst/>
            <a:gdLst/>
            <a:ahLst/>
            <a:cxnLst/>
            <a:rect l="l" t="t" r="r" b="b"/>
            <a:pathLst>
              <a:path w="1605285" h="1192498">
                <a:moveTo>
                  <a:pt x="0" y="0"/>
                </a:moveTo>
                <a:lnTo>
                  <a:pt x="1605286" y="0"/>
                </a:lnTo>
                <a:lnTo>
                  <a:pt x="1605286" y="1192498"/>
                </a:lnTo>
                <a:lnTo>
                  <a:pt x="0" y="1192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317561" y="7039557"/>
            <a:ext cx="1037949" cy="1037949"/>
            <a:chOff x="0" y="0"/>
            <a:chExt cx="301143" cy="30114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01143" cy="301143"/>
            </a:xfrm>
            <a:custGeom>
              <a:avLst/>
              <a:gdLst/>
              <a:ahLst/>
              <a:cxnLst/>
              <a:rect l="l" t="t" r="r" b="b"/>
              <a:pathLst>
                <a:path w="301143" h="301143">
                  <a:moveTo>
                    <a:pt x="0" y="0"/>
                  </a:moveTo>
                  <a:lnTo>
                    <a:pt x="301143" y="0"/>
                  </a:lnTo>
                  <a:lnTo>
                    <a:pt x="301143" y="301143"/>
                  </a:lnTo>
                  <a:lnTo>
                    <a:pt x="0" y="301143"/>
                  </a:lnTo>
                  <a:close/>
                </a:path>
              </a:pathLst>
            </a:custGeom>
            <a:solidFill>
              <a:srgbClr val="535B29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301143" cy="348768"/>
            </a:xfrm>
            <a:prstGeom prst="rect">
              <a:avLst/>
            </a:prstGeom>
          </p:spPr>
          <p:txBody>
            <a:bodyPr lIns="36189" tIns="36189" rIns="36189" bIns="36189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97586" y="7251641"/>
            <a:ext cx="877900" cy="60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2"/>
              </a:lnSpc>
            </a:pPr>
            <a:r>
              <a:rPr lang="en-US" sz="39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7537" y="7300385"/>
            <a:ext cx="5269155" cy="44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sz="25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Identified Gaps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317561" y="9020481"/>
            <a:ext cx="1037949" cy="1037949"/>
            <a:chOff x="0" y="0"/>
            <a:chExt cx="301143" cy="30114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01143" cy="301143"/>
            </a:xfrm>
            <a:custGeom>
              <a:avLst/>
              <a:gdLst/>
              <a:ahLst/>
              <a:cxnLst/>
              <a:rect l="l" t="t" r="r" b="b"/>
              <a:pathLst>
                <a:path w="301143" h="301143">
                  <a:moveTo>
                    <a:pt x="0" y="0"/>
                  </a:moveTo>
                  <a:lnTo>
                    <a:pt x="301143" y="0"/>
                  </a:lnTo>
                  <a:lnTo>
                    <a:pt x="301143" y="301143"/>
                  </a:lnTo>
                  <a:lnTo>
                    <a:pt x="0" y="301143"/>
                  </a:lnTo>
                  <a:close/>
                </a:path>
              </a:pathLst>
            </a:custGeom>
            <a:solidFill>
              <a:srgbClr val="535B29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301143" cy="348768"/>
            </a:xfrm>
            <a:prstGeom prst="rect">
              <a:avLst/>
            </a:prstGeom>
          </p:spPr>
          <p:txBody>
            <a:bodyPr lIns="36189" tIns="36189" rIns="36189" bIns="36189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525801" y="9296706"/>
            <a:ext cx="5269155" cy="44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sz="25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Questions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98763" y="9258606"/>
            <a:ext cx="877900" cy="60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2"/>
              </a:lnSpc>
            </a:pPr>
            <a:r>
              <a:rPr lang="en-US" sz="39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05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793636" y="1824583"/>
            <a:ext cx="1037949" cy="1037949"/>
            <a:chOff x="0" y="0"/>
            <a:chExt cx="301143" cy="30114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01143" cy="301143"/>
            </a:xfrm>
            <a:custGeom>
              <a:avLst/>
              <a:gdLst/>
              <a:ahLst/>
              <a:cxnLst/>
              <a:rect l="l" t="t" r="r" b="b"/>
              <a:pathLst>
                <a:path w="301143" h="301143">
                  <a:moveTo>
                    <a:pt x="0" y="0"/>
                  </a:moveTo>
                  <a:lnTo>
                    <a:pt x="301143" y="0"/>
                  </a:lnTo>
                  <a:lnTo>
                    <a:pt x="301143" y="301143"/>
                  </a:lnTo>
                  <a:lnTo>
                    <a:pt x="0" y="301143"/>
                  </a:lnTo>
                  <a:close/>
                </a:path>
              </a:pathLst>
            </a:custGeom>
            <a:solidFill>
              <a:srgbClr val="535B29"/>
            </a:soli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301143" cy="348768"/>
            </a:xfrm>
            <a:prstGeom prst="rect">
              <a:avLst/>
            </a:prstGeom>
          </p:spPr>
          <p:txBody>
            <a:bodyPr lIns="36189" tIns="36189" rIns="36189" bIns="36189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566717" y="5556667"/>
            <a:ext cx="5269155" cy="44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sz="25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793636" y="3457790"/>
            <a:ext cx="1037949" cy="1037949"/>
            <a:chOff x="0" y="0"/>
            <a:chExt cx="301143" cy="30114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01143" cy="301143"/>
            </a:xfrm>
            <a:custGeom>
              <a:avLst/>
              <a:gdLst/>
              <a:ahLst/>
              <a:cxnLst/>
              <a:rect l="l" t="t" r="r" b="b"/>
              <a:pathLst>
                <a:path w="301143" h="301143">
                  <a:moveTo>
                    <a:pt x="0" y="0"/>
                  </a:moveTo>
                  <a:lnTo>
                    <a:pt x="301143" y="0"/>
                  </a:lnTo>
                  <a:lnTo>
                    <a:pt x="301143" y="301143"/>
                  </a:lnTo>
                  <a:lnTo>
                    <a:pt x="0" y="301143"/>
                  </a:lnTo>
                  <a:close/>
                </a:path>
              </a:pathLst>
            </a:custGeom>
            <a:solidFill>
              <a:srgbClr val="535B29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301143" cy="348768"/>
            </a:xfrm>
            <a:prstGeom prst="rect">
              <a:avLst/>
            </a:prstGeom>
          </p:spPr>
          <p:txBody>
            <a:bodyPr lIns="36189" tIns="36189" rIns="36189" bIns="36189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793636" y="5295839"/>
            <a:ext cx="1037949" cy="1037949"/>
            <a:chOff x="0" y="0"/>
            <a:chExt cx="301143" cy="30114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01143" cy="301143"/>
            </a:xfrm>
            <a:custGeom>
              <a:avLst/>
              <a:gdLst/>
              <a:ahLst/>
              <a:cxnLst/>
              <a:rect l="l" t="t" r="r" b="b"/>
              <a:pathLst>
                <a:path w="301143" h="301143">
                  <a:moveTo>
                    <a:pt x="0" y="0"/>
                  </a:moveTo>
                  <a:lnTo>
                    <a:pt x="301143" y="0"/>
                  </a:lnTo>
                  <a:lnTo>
                    <a:pt x="301143" y="301143"/>
                  </a:lnTo>
                  <a:lnTo>
                    <a:pt x="0" y="301143"/>
                  </a:lnTo>
                  <a:close/>
                </a:path>
              </a:pathLst>
            </a:custGeom>
            <a:solidFill>
              <a:srgbClr val="535B29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301143" cy="348768"/>
            </a:xfrm>
            <a:prstGeom prst="rect">
              <a:avLst/>
            </a:prstGeom>
          </p:spPr>
          <p:txBody>
            <a:bodyPr lIns="36189" tIns="36189" rIns="36189" bIns="36189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793636" y="7039557"/>
            <a:ext cx="1037949" cy="1037949"/>
            <a:chOff x="0" y="0"/>
            <a:chExt cx="301143" cy="30114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01143" cy="301143"/>
            </a:xfrm>
            <a:custGeom>
              <a:avLst/>
              <a:gdLst/>
              <a:ahLst/>
              <a:cxnLst/>
              <a:rect l="l" t="t" r="r" b="b"/>
              <a:pathLst>
                <a:path w="301143" h="301143">
                  <a:moveTo>
                    <a:pt x="0" y="0"/>
                  </a:moveTo>
                  <a:lnTo>
                    <a:pt x="301143" y="0"/>
                  </a:lnTo>
                  <a:lnTo>
                    <a:pt x="301143" y="301143"/>
                  </a:lnTo>
                  <a:lnTo>
                    <a:pt x="0" y="301143"/>
                  </a:lnTo>
                  <a:close/>
                </a:path>
              </a:pathLst>
            </a:custGeom>
            <a:solidFill>
              <a:srgbClr val="535B29"/>
            </a:solidFill>
            <a:ln cap="sq">
              <a:noFill/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301143" cy="348768"/>
            </a:xfrm>
            <a:prstGeom prst="rect">
              <a:avLst/>
            </a:prstGeom>
          </p:spPr>
          <p:txBody>
            <a:bodyPr lIns="36189" tIns="36189" rIns="36189" bIns="36189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793636" y="9020481"/>
            <a:ext cx="1037949" cy="1037949"/>
            <a:chOff x="0" y="0"/>
            <a:chExt cx="301143" cy="30114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01143" cy="301143"/>
            </a:xfrm>
            <a:custGeom>
              <a:avLst/>
              <a:gdLst/>
              <a:ahLst/>
              <a:cxnLst/>
              <a:rect l="l" t="t" r="r" b="b"/>
              <a:pathLst>
                <a:path w="301143" h="301143">
                  <a:moveTo>
                    <a:pt x="0" y="0"/>
                  </a:moveTo>
                  <a:lnTo>
                    <a:pt x="301143" y="0"/>
                  </a:lnTo>
                  <a:lnTo>
                    <a:pt x="301143" y="301143"/>
                  </a:lnTo>
                  <a:lnTo>
                    <a:pt x="0" y="301143"/>
                  </a:lnTo>
                  <a:close/>
                </a:path>
              </a:pathLst>
            </a:custGeom>
            <a:solidFill>
              <a:srgbClr val="535B29"/>
            </a:solidFill>
            <a:ln cap="sq">
              <a:noFill/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301143" cy="348768"/>
            </a:xfrm>
            <a:prstGeom prst="rect">
              <a:avLst/>
            </a:prstGeom>
          </p:spPr>
          <p:txBody>
            <a:bodyPr lIns="36189" tIns="36189" rIns="36189" bIns="36189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0873661" y="2036666"/>
            <a:ext cx="877900" cy="60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2"/>
              </a:lnSpc>
            </a:pPr>
            <a:r>
              <a:rPr lang="en-US" sz="39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06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873661" y="3669874"/>
            <a:ext cx="877900" cy="60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2"/>
              </a:lnSpc>
            </a:pPr>
            <a:r>
              <a:rPr lang="en-US" sz="39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07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873661" y="5524439"/>
            <a:ext cx="877900" cy="60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2"/>
              </a:lnSpc>
            </a:pPr>
            <a:r>
              <a:rPr lang="en-US" sz="39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08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873661" y="7222208"/>
            <a:ext cx="877900" cy="60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2"/>
              </a:lnSpc>
            </a:pPr>
            <a:r>
              <a:rPr lang="en-US" sz="39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09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873661" y="9106206"/>
            <a:ext cx="877900" cy="60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2"/>
              </a:lnSpc>
            </a:pPr>
            <a:r>
              <a:rPr lang="en-US" sz="39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10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088857" y="3718618"/>
            <a:ext cx="5269155" cy="44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sz="25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Objectives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12611" y="2056696"/>
            <a:ext cx="5269155" cy="44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sz="25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Contributions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793636" y="7362488"/>
            <a:ext cx="5269155" cy="44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sz="25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Results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990145" y="9296706"/>
            <a:ext cx="5269155" cy="44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sz="254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and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156368"/>
            <a:ext cx="6785190" cy="776976"/>
            <a:chOff x="0" y="0"/>
            <a:chExt cx="1787046" cy="204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7046" cy="204636"/>
            </a:xfrm>
            <a:custGeom>
              <a:avLst/>
              <a:gdLst/>
              <a:ahLst/>
              <a:cxnLst/>
              <a:rect l="l" t="t" r="r" b="b"/>
              <a:pathLst>
                <a:path w="1787046" h="204636">
                  <a:moveTo>
                    <a:pt x="0" y="0"/>
                  </a:moveTo>
                  <a:lnTo>
                    <a:pt x="1787046" y="0"/>
                  </a:lnTo>
                  <a:lnTo>
                    <a:pt x="1787046" y="204636"/>
                  </a:lnTo>
                  <a:lnTo>
                    <a:pt x="0" y="204636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87046" cy="242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586315"/>
            <a:ext cx="6785190" cy="5252760"/>
            <a:chOff x="0" y="0"/>
            <a:chExt cx="1051203" cy="8137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1203" cy="813790"/>
            </a:xfrm>
            <a:custGeom>
              <a:avLst/>
              <a:gdLst/>
              <a:ahLst/>
              <a:cxnLst/>
              <a:rect l="l" t="t" r="r" b="b"/>
              <a:pathLst>
                <a:path w="1051203" h="813790">
                  <a:moveTo>
                    <a:pt x="31948" y="0"/>
                  </a:moveTo>
                  <a:lnTo>
                    <a:pt x="1019255" y="0"/>
                  </a:lnTo>
                  <a:cubicBezTo>
                    <a:pt x="1036900" y="0"/>
                    <a:pt x="1051203" y="14304"/>
                    <a:pt x="1051203" y="31948"/>
                  </a:cubicBezTo>
                  <a:lnTo>
                    <a:pt x="1051203" y="781842"/>
                  </a:lnTo>
                  <a:cubicBezTo>
                    <a:pt x="1051203" y="799486"/>
                    <a:pt x="1036900" y="813790"/>
                    <a:pt x="1019255" y="813790"/>
                  </a:cubicBezTo>
                  <a:lnTo>
                    <a:pt x="31948" y="813790"/>
                  </a:lnTo>
                  <a:cubicBezTo>
                    <a:pt x="14304" y="813790"/>
                    <a:pt x="0" y="799486"/>
                    <a:pt x="0" y="781842"/>
                  </a:cubicBezTo>
                  <a:lnTo>
                    <a:pt x="0" y="31948"/>
                  </a:lnTo>
                  <a:cubicBezTo>
                    <a:pt x="0" y="14304"/>
                    <a:pt x="14304" y="0"/>
                    <a:pt x="31948" y="0"/>
                  </a:cubicBezTo>
                  <a:close/>
                </a:path>
              </a:pathLst>
            </a:custGeom>
            <a:blipFill>
              <a:blip r:embed="rId2"/>
              <a:stretch>
                <a:fillRect l="-8206" r="-820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8861113" y="1644588"/>
            <a:ext cx="8398187" cy="7613712"/>
            <a:chOff x="0" y="0"/>
            <a:chExt cx="2211868" cy="20052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1868" cy="2005258"/>
            </a:xfrm>
            <a:custGeom>
              <a:avLst/>
              <a:gdLst/>
              <a:ahLst/>
              <a:cxnLst/>
              <a:rect l="l" t="t" r="r" b="b"/>
              <a:pathLst>
                <a:path w="2211868" h="2005258">
                  <a:moveTo>
                    <a:pt x="0" y="0"/>
                  </a:moveTo>
                  <a:lnTo>
                    <a:pt x="2211868" y="0"/>
                  </a:lnTo>
                  <a:lnTo>
                    <a:pt x="2211868" y="2005258"/>
                  </a:lnTo>
                  <a:lnTo>
                    <a:pt x="0" y="2005258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211868" cy="2052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89924" y="8266431"/>
            <a:ext cx="666274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  <a:spcBef>
                <a:spcPct val="0"/>
              </a:spcBef>
            </a:pPr>
            <a:r>
              <a:rPr lang="en-US" sz="2250" b="1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AFRICANS MUST SOLVE AFRICAN PROBLEMS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643340"/>
            <a:ext cx="5903358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29945" y="1855765"/>
            <a:ext cx="8329355" cy="668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1" lvl="1" indent="-313050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agriculture technologies are increasingly proposed as a way to improve farmer livelihoods [1]</a:t>
            </a:r>
          </a:p>
          <a:p>
            <a:pPr marL="626101" lvl="1" indent="-313050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solutions are built and priced for, large-scale, well-resourced farming operations</a:t>
            </a:r>
          </a:p>
          <a:p>
            <a:pPr marL="626101" lvl="1" indent="-313050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Sub-Saharan Africa, agriculture is overwhelmingly practiced by smallholder farmers [1]</a:t>
            </a:r>
          </a:p>
          <a:p>
            <a:pPr marL="1252202" lvl="2" indent="-417401" algn="l">
              <a:lnSpc>
                <a:spcPts val="4059"/>
              </a:lnSpc>
              <a:buFont typeface="Arial"/>
              <a:buChar char="⚬"/>
            </a:pPr>
            <a:r>
              <a:rPr lang="en-US" sz="28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Distinction that matters enormously for what kind of technology can realistically reach the people who need it</a:t>
            </a:r>
          </a:p>
          <a:p>
            <a:pPr marL="626101" lvl="1" indent="-313050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Among the many pressures, bird predation on crops is a threat that is massive in scale and under-addressed by modern, accessible technology [4].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0"/>
            <a:ext cx="1605285" cy="1192498"/>
          </a:xfrm>
          <a:custGeom>
            <a:avLst/>
            <a:gdLst/>
            <a:ahLst/>
            <a:cxnLst/>
            <a:rect l="l" t="t" r="r" b="b"/>
            <a:pathLst>
              <a:path w="1605285" h="1192498">
                <a:moveTo>
                  <a:pt x="0" y="0"/>
                </a:moveTo>
                <a:lnTo>
                  <a:pt x="1605285" y="0"/>
                </a:lnTo>
                <a:lnTo>
                  <a:pt x="1605285" y="1192498"/>
                </a:lnTo>
                <a:lnTo>
                  <a:pt x="0" y="119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96174" y="425808"/>
            <a:ext cx="763126" cy="94049"/>
            <a:chOff x="0" y="0"/>
            <a:chExt cx="200988" cy="247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988" cy="24770"/>
            </a:xfrm>
            <a:custGeom>
              <a:avLst/>
              <a:gdLst/>
              <a:ahLst/>
              <a:cxnLst/>
              <a:rect l="l" t="t" r="r" b="b"/>
              <a:pathLst>
                <a:path w="200988" h="24770">
                  <a:moveTo>
                    <a:pt x="0" y="0"/>
                  </a:moveTo>
                  <a:lnTo>
                    <a:pt x="200988" y="0"/>
                  </a:lnTo>
                  <a:lnTo>
                    <a:pt x="200988" y="24770"/>
                  </a:lnTo>
                  <a:lnTo>
                    <a:pt x="0" y="24770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0988" cy="72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496174" y="627628"/>
            <a:ext cx="763126" cy="94049"/>
            <a:chOff x="0" y="0"/>
            <a:chExt cx="200988" cy="247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0988" cy="24770"/>
            </a:xfrm>
            <a:custGeom>
              <a:avLst/>
              <a:gdLst/>
              <a:ahLst/>
              <a:cxnLst/>
              <a:rect l="l" t="t" r="r" b="b"/>
              <a:pathLst>
                <a:path w="200988" h="24770">
                  <a:moveTo>
                    <a:pt x="0" y="0"/>
                  </a:moveTo>
                  <a:lnTo>
                    <a:pt x="200988" y="0"/>
                  </a:lnTo>
                  <a:lnTo>
                    <a:pt x="200988" y="24770"/>
                  </a:lnTo>
                  <a:lnTo>
                    <a:pt x="0" y="24770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00988" cy="72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496174" y="829448"/>
            <a:ext cx="763126" cy="94049"/>
            <a:chOff x="0" y="0"/>
            <a:chExt cx="200988" cy="247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0988" cy="24770"/>
            </a:xfrm>
            <a:custGeom>
              <a:avLst/>
              <a:gdLst/>
              <a:ahLst/>
              <a:cxnLst/>
              <a:rect l="l" t="t" r="r" b="b"/>
              <a:pathLst>
                <a:path w="200988" h="24770">
                  <a:moveTo>
                    <a:pt x="0" y="0"/>
                  </a:moveTo>
                  <a:lnTo>
                    <a:pt x="200988" y="0"/>
                  </a:lnTo>
                  <a:lnTo>
                    <a:pt x="200988" y="24770"/>
                  </a:lnTo>
                  <a:lnTo>
                    <a:pt x="0" y="24770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00988" cy="72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555595" y="1855795"/>
            <a:ext cx="6732405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Background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4430" y="3303295"/>
            <a:ext cx="10131048" cy="5699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5"/>
              </a:lnSpc>
            </a:pPr>
            <a:endParaRPr/>
          </a:p>
          <a:p>
            <a:pPr marL="540577" lvl="1" indent="-270288" algn="l">
              <a:lnSpc>
                <a:spcPts val="3505"/>
              </a:lnSpc>
              <a:buFont typeface="Arial"/>
              <a:buChar char="•"/>
            </a:pPr>
            <a:r>
              <a:rPr lang="en-US" sz="25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Smallholder farms in the sub-Saharan Africa region are around 33 million, represent 80% of all farms, and contribute up to 90% of food production in some countries [2].</a:t>
            </a:r>
          </a:p>
          <a:p>
            <a:pPr marL="540577" lvl="1" indent="-270288" algn="l">
              <a:lnSpc>
                <a:spcPts val="3505"/>
              </a:lnSpc>
              <a:buFont typeface="Arial"/>
              <a:buChar char="•"/>
            </a:pPr>
            <a:r>
              <a:rPr lang="en-US" sz="25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individual level, close to 70% of the population is involved in agriculture as smallholder farmers, with land averaging less than 2 hectares [2].</a:t>
            </a:r>
          </a:p>
          <a:p>
            <a:pPr marL="540577" lvl="1" indent="-270288" algn="l">
              <a:lnSpc>
                <a:spcPts val="3505"/>
              </a:lnSpc>
              <a:buFont typeface="Arial"/>
              <a:buChar char="•"/>
            </a:pPr>
            <a:r>
              <a:rPr lang="en-US" sz="25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Cereal crops: sorghum, millet, rice, and wheat are the main crops produced and heavily targeted by flocking granivorous birds: the red-billed quelea and several weaver species.</a:t>
            </a:r>
          </a:p>
          <a:p>
            <a:pPr marL="540577" lvl="1" indent="-270288" algn="l">
              <a:lnSpc>
                <a:spcPts val="3505"/>
              </a:lnSpc>
              <a:buFont typeface="Arial"/>
              <a:buChar char="•"/>
            </a:pPr>
            <a:r>
              <a:rPr lang="en-US" sz="25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Crop losses to quelea alone are estimated to cost the continent around $88.6 million annually [3].</a:t>
            </a:r>
          </a:p>
          <a:p>
            <a:pPr algn="l">
              <a:lnSpc>
                <a:spcPts val="3505"/>
              </a:lnSpc>
            </a:pPr>
            <a:endParaRPr lang="en-US" sz="250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11447731" y="2953029"/>
            <a:ext cx="5629109" cy="6053049"/>
            <a:chOff x="0" y="0"/>
            <a:chExt cx="1482564" cy="15942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82564" cy="1594219"/>
            </a:xfrm>
            <a:custGeom>
              <a:avLst/>
              <a:gdLst/>
              <a:ahLst/>
              <a:cxnLst/>
              <a:rect l="l" t="t" r="r" b="b"/>
              <a:pathLst>
                <a:path w="1482564" h="1594219">
                  <a:moveTo>
                    <a:pt x="71518" y="0"/>
                  </a:moveTo>
                  <a:lnTo>
                    <a:pt x="1411046" y="0"/>
                  </a:lnTo>
                  <a:cubicBezTo>
                    <a:pt x="1450544" y="0"/>
                    <a:pt x="1482564" y="32019"/>
                    <a:pt x="1482564" y="71518"/>
                  </a:cubicBezTo>
                  <a:lnTo>
                    <a:pt x="1482564" y="1522701"/>
                  </a:lnTo>
                  <a:cubicBezTo>
                    <a:pt x="1482564" y="1562199"/>
                    <a:pt x="1450544" y="1594219"/>
                    <a:pt x="1411046" y="1594219"/>
                  </a:cubicBezTo>
                  <a:lnTo>
                    <a:pt x="71518" y="1594219"/>
                  </a:lnTo>
                  <a:cubicBezTo>
                    <a:pt x="32019" y="1594219"/>
                    <a:pt x="0" y="1562199"/>
                    <a:pt x="0" y="1522701"/>
                  </a:cubicBezTo>
                  <a:lnTo>
                    <a:pt x="0" y="71518"/>
                  </a:lnTo>
                  <a:cubicBezTo>
                    <a:pt x="0" y="32019"/>
                    <a:pt x="32019" y="0"/>
                    <a:pt x="71518" y="0"/>
                  </a:cubicBez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482564" cy="1641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439937" y="4124887"/>
            <a:ext cx="5644699" cy="3284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endParaRPr/>
          </a:p>
          <a:p>
            <a:pPr marL="497398" lvl="1" indent="-248699" algn="l">
              <a:lnSpc>
                <a:spcPts val="3225"/>
              </a:lnSpc>
              <a:buFont typeface="Arial"/>
              <a:buChar char="•"/>
            </a:pPr>
            <a:r>
              <a:rPr lang="en-US" sz="230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study of rice farmers in Senegal`s River Valley found that bird damage reduced potential rice production by about 13.2% causing an estimated €7.1 million in annual economic losses. Farmers themselves estimated their losses even higher, at 15.2% [5].</a:t>
            </a:r>
          </a:p>
        </p:txBody>
      </p:sp>
      <p:sp>
        <p:nvSpPr>
          <p:cNvPr id="17" name="Freeform 17"/>
          <p:cNvSpPr/>
          <p:nvPr/>
        </p:nvSpPr>
        <p:spPr>
          <a:xfrm>
            <a:off x="226057" y="280224"/>
            <a:ext cx="1605285" cy="1192498"/>
          </a:xfrm>
          <a:custGeom>
            <a:avLst/>
            <a:gdLst/>
            <a:ahLst/>
            <a:cxnLst/>
            <a:rect l="l" t="t" r="r" b="b"/>
            <a:pathLst>
              <a:path w="1605285" h="1192498">
                <a:moveTo>
                  <a:pt x="0" y="0"/>
                </a:moveTo>
                <a:lnTo>
                  <a:pt x="1605286" y="0"/>
                </a:lnTo>
                <a:lnTo>
                  <a:pt x="1605286" y="1192497"/>
                </a:lnTo>
                <a:lnTo>
                  <a:pt x="0" y="1192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96174" y="425808"/>
            <a:ext cx="763126" cy="94049"/>
            <a:chOff x="0" y="0"/>
            <a:chExt cx="200988" cy="247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988" cy="24770"/>
            </a:xfrm>
            <a:custGeom>
              <a:avLst/>
              <a:gdLst/>
              <a:ahLst/>
              <a:cxnLst/>
              <a:rect l="l" t="t" r="r" b="b"/>
              <a:pathLst>
                <a:path w="200988" h="24770">
                  <a:moveTo>
                    <a:pt x="0" y="0"/>
                  </a:moveTo>
                  <a:lnTo>
                    <a:pt x="200988" y="0"/>
                  </a:lnTo>
                  <a:lnTo>
                    <a:pt x="200988" y="24770"/>
                  </a:lnTo>
                  <a:lnTo>
                    <a:pt x="0" y="24770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0988" cy="72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496174" y="627628"/>
            <a:ext cx="763126" cy="94049"/>
            <a:chOff x="0" y="0"/>
            <a:chExt cx="200988" cy="247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0988" cy="24770"/>
            </a:xfrm>
            <a:custGeom>
              <a:avLst/>
              <a:gdLst/>
              <a:ahLst/>
              <a:cxnLst/>
              <a:rect l="l" t="t" r="r" b="b"/>
              <a:pathLst>
                <a:path w="200988" h="24770">
                  <a:moveTo>
                    <a:pt x="0" y="0"/>
                  </a:moveTo>
                  <a:lnTo>
                    <a:pt x="200988" y="0"/>
                  </a:lnTo>
                  <a:lnTo>
                    <a:pt x="200988" y="24770"/>
                  </a:lnTo>
                  <a:lnTo>
                    <a:pt x="0" y="24770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00988" cy="72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496174" y="829448"/>
            <a:ext cx="763126" cy="94049"/>
            <a:chOff x="0" y="0"/>
            <a:chExt cx="200988" cy="247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0988" cy="24770"/>
            </a:xfrm>
            <a:custGeom>
              <a:avLst/>
              <a:gdLst/>
              <a:ahLst/>
              <a:cxnLst/>
              <a:rect l="l" t="t" r="r" b="b"/>
              <a:pathLst>
                <a:path w="200988" h="24770">
                  <a:moveTo>
                    <a:pt x="0" y="0"/>
                  </a:moveTo>
                  <a:lnTo>
                    <a:pt x="200988" y="0"/>
                  </a:lnTo>
                  <a:lnTo>
                    <a:pt x="200988" y="24770"/>
                  </a:lnTo>
                  <a:lnTo>
                    <a:pt x="0" y="24770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00988" cy="72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-108419" y="0"/>
            <a:ext cx="18396419" cy="10389119"/>
            <a:chOff x="0" y="0"/>
            <a:chExt cx="3578352" cy="2020824"/>
          </a:xfrm>
        </p:grpSpPr>
        <p:sp>
          <p:nvSpPr>
            <p:cNvPr id="12" name="Freeform 12"/>
            <p:cNvSpPr/>
            <p:nvPr/>
          </p:nvSpPr>
          <p:spPr>
            <a:xfrm>
              <a:off x="156591" y="17526"/>
              <a:ext cx="3247136" cy="1987423"/>
            </a:xfrm>
            <a:custGeom>
              <a:avLst/>
              <a:gdLst/>
              <a:ahLst/>
              <a:cxnLst/>
              <a:rect l="l" t="t" r="r" b="b"/>
              <a:pathLst>
                <a:path w="3247136" h="1987423">
                  <a:moveTo>
                    <a:pt x="3247136" y="1987423"/>
                  </a:moveTo>
                  <a:lnTo>
                    <a:pt x="0" y="1987423"/>
                  </a:lnTo>
                  <a:lnTo>
                    <a:pt x="0" y="0"/>
                  </a:lnTo>
                  <a:lnTo>
                    <a:pt x="3247136" y="0"/>
                  </a:lnTo>
                  <a:lnTo>
                    <a:pt x="3247136" y="1987423"/>
                  </a:lnTo>
                  <a:close/>
                </a:path>
              </a:pathLst>
            </a:custGeom>
            <a:blipFill>
              <a:blip r:embed="rId2"/>
              <a:stretch>
                <a:fillRect l="-16638" r="-12530" b="-3284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578352" cy="2020824"/>
            </a:xfrm>
            <a:custGeom>
              <a:avLst/>
              <a:gdLst/>
              <a:ahLst/>
              <a:cxnLst/>
              <a:rect l="l" t="t" r="r" b="b"/>
              <a:pathLst>
                <a:path w="3578352" h="2020824">
                  <a:moveTo>
                    <a:pt x="3578352" y="2020824"/>
                  </a:moveTo>
                  <a:lnTo>
                    <a:pt x="0" y="2020824"/>
                  </a:lnTo>
                  <a:lnTo>
                    <a:pt x="0" y="0"/>
                  </a:lnTo>
                  <a:lnTo>
                    <a:pt x="3578352" y="0"/>
                  </a:lnTo>
                  <a:lnTo>
                    <a:pt x="3578352" y="2020824"/>
                  </a:lnTo>
                  <a:close/>
                </a:path>
              </a:pathLst>
            </a:custGeom>
            <a:blipFill>
              <a:blip r:embed="rId3"/>
              <a:stretch>
                <a:fillRect t="-23" b="-23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961374"/>
            <a:ext cx="16230600" cy="1669236"/>
            <a:chOff x="0" y="0"/>
            <a:chExt cx="4274726" cy="4396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439634"/>
            </a:xfrm>
            <a:custGeom>
              <a:avLst/>
              <a:gdLst/>
              <a:ahLst/>
              <a:cxnLst/>
              <a:rect l="l" t="t" r="r" b="b"/>
              <a:pathLst>
                <a:path w="4274726" h="439634">
                  <a:moveTo>
                    <a:pt x="0" y="0"/>
                  </a:moveTo>
                  <a:lnTo>
                    <a:pt x="4274726" y="0"/>
                  </a:lnTo>
                  <a:lnTo>
                    <a:pt x="4274726" y="439634"/>
                  </a:lnTo>
                  <a:lnTo>
                    <a:pt x="0" y="439634"/>
                  </a:lnTo>
                  <a:close/>
                </a:path>
              </a:pathLst>
            </a:custGeom>
            <a:solidFill>
              <a:srgbClr val="535B29">
                <a:alpha val="76863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4726" cy="487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040640" y="4288529"/>
            <a:ext cx="1659624" cy="1012371"/>
          </a:xfrm>
          <a:custGeom>
            <a:avLst/>
            <a:gdLst/>
            <a:ahLst/>
            <a:cxnLst/>
            <a:rect l="l" t="t" r="r" b="b"/>
            <a:pathLst>
              <a:path w="1659624" h="1012371">
                <a:moveTo>
                  <a:pt x="0" y="0"/>
                </a:moveTo>
                <a:lnTo>
                  <a:pt x="1659625" y="0"/>
                </a:lnTo>
                <a:lnTo>
                  <a:pt x="1659625" y="1012370"/>
                </a:lnTo>
                <a:lnTo>
                  <a:pt x="0" y="10123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036985" y="4051326"/>
            <a:ext cx="1375269" cy="1486777"/>
          </a:xfrm>
          <a:custGeom>
            <a:avLst/>
            <a:gdLst/>
            <a:ahLst/>
            <a:cxnLst/>
            <a:rect l="l" t="t" r="r" b="b"/>
            <a:pathLst>
              <a:path w="1375269" h="1486777">
                <a:moveTo>
                  <a:pt x="0" y="0"/>
                </a:moveTo>
                <a:lnTo>
                  <a:pt x="1375269" y="0"/>
                </a:lnTo>
                <a:lnTo>
                  <a:pt x="1375269" y="1486776"/>
                </a:lnTo>
                <a:lnTo>
                  <a:pt x="0" y="14867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819111" y="4264062"/>
            <a:ext cx="1920069" cy="1036837"/>
          </a:xfrm>
          <a:custGeom>
            <a:avLst/>
            <a:gdLst/>
            <a:ahLst/>
            <a:cxnLst/>
            <a:rect l="l" t="t" r="r" b="b"/>
            <a:pathLst>
              <a:path w="1920069" h="1036837">
                <a:moveTo>
                  <a:pt x="0" y="0"/>
                </a:moveTo>
                <a:lnTo>
                  <a:pt x="1920069" y="0"/>
                </a:lnTo>
                <a:lnTo>
                  <a:pt x="1920069" y="1036837"/>
                </a:lnTo>
                <a:lnTo>
                  <a:pt x="0" y="1036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017984" y="925007"/>
            <a:ext cx="8025354" cy="2900313"/>
          </a:xfrm>
          <a:custGeom>
            <a:avLst/>
            <a:gdLst/>
            <a:ahLst/>
            <a:cxnLst/>
            <a:rect l="l" t="t" r="r" b="b"/>
            <a:pathLst>
              <a:path w="8025354" h="2900313">
                <a:moveTo>
                  <a:pt x="0" y="0"/>
                </a:moveTo>
                <a:lnTo>
                  <a:pt x="8025355" y="0"/>
                </a:lnTo>
                <a:lnTo>
                  <a:pt x="8025355" y="2900312"/>
                </a:lnTo>
                <a:lnTo>
                  <a:pt x="0" y="29003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1424" b="-2142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33088" y="2027799"/>
            <a:ext cx="7157039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7512" y="6691782"/>
            <a:ext cx="4241870" cy="201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9421" lvl="1" indent="-249711" algn="l">
              <a:lnSpc>
                <a:spcPts val="3238"/>
              </a:lnSpc>
              <a:buFont typeface="Arial"/>
              <a:buChar char="•"/>
            </a:pPr>
            <a:r>
              <a:rPr lang="en-US" sz="23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East Africa, bird infestations cause small-scale farmers to lose over 20% of their cereal crops [1]</a:t>
            </a:r>
          </a:p>
          <a:p>
            <a:pPr algn="l">
              <a:lnSpc>
                <a:spcPts val="3238"/>
              </a:lnSpc>
            </a:pPr>
            <a:endParaRPr lang="en-US" sz="231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911149" y="6691782"/>
            <a:ext cx="4465702" cy="2422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9421" lvl="1" indent="-249711" algn="l">
              <a:lnSpc>
                <a:spcPts val="3238"/>
              </a:lnSpc>
              <a:buFont typeface="Arial"/>
              <a:buChar char="•"/>
            </a:pPr>
            <a:r>
              <a:rPr lang="en-US" sz="23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dominant existing responses such as manual scaring, which is labor-intensive and diverts household labor from other income-generating activity [4].</a:t>
            </a:r>
          </a:p>
          <a:p>
            <a:pPr algn="l">
              <a:lnSpc>
                <a:spcPts val="3238"/>
              </a:lnSpc>
            </a:pPr>
            <a:endParaRPr lang="en-US" sz="231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496737" y="6691782"/>
            <a:ext cx="4762563" cy="201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9425" lvl="1" indent="-249713" algn="l">
              <a:lnSpc>
                <a:spcPts val="3238"/>
              </a:lnSpc>
              <a:buFont typeface="Arial"/>
              <a:buChar char="•"/>
            </a:pPr>
            <a:r>
              <a:rPr lang="en-US" sz="23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deterrent technologies exist, but their high cost and infrastructure requirements make them inaccessible to small-scale farmers [4].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0"/>
            <a:ext cx="1605285" cy="1192498"/>
          </a:xfrm>
          <a:custGeom>
            <a:avLst/>
            <a:gdLst/>
            <a:ahLst/>
            <a:cxnLst/>
            <a:rect l="l" t="t" r="r" b="b"/>
            <a:pathLst>
              <a:path w="1605285" h="1192498">
                <a:moveTo>
                  <a:pt x="0" y="0"/>
                </a:moveTo>
                <a:lnTo>
                  <a:pt x="1605285" y="0"/>
                </a:lnTo>
                <a:lnTo>
                  <a:pt x="1605285" y="1192498"/>
                </a:lnTo>
                <a:lnTo>
                  <a:pt x="0" y="11924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9578" y="0"/>
            <a:ext cx="10868422" cy="10287000"/>
          </a:xfrm>
          <a:custGeom>
            <a:avLst/>
            <a:gdLst/>
            <a:ahLst/>
            <a:cxnLst/>
            <a:rect l="l" t="t" r="r" b="b"/>
            <a:pathLst>
              <a:path w="10868422" h="10287000">
                <a:moveTo>
                  <a:pt x="0" y="0"/>
                </a:moveTo>
                <a:lnTo>
                  <a:pt x="10868422" y="0"/>
                </a:lnTo>
                <a:lnTo>
                  <a:pt x="108684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9" r="-3778" b="-76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3687885"/>
            <a:ext cx="7099515" cy="247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 5 East African States Affected By Red-Billed Quelea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7512" y="2868917"/>
            <a:ext cx="1037949" cy="1037949"/>
            <a:chOff x="0" y="0"/>
            <a:chExt cx="301143" cy="3011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143" cy="301143"/>
            </a:xfrm>
            <a:custGeom>
              <a:avLst/>
              <a:gdLst/>
              <a:ahLst/>
              <a:cxnLst/>
              <a:rect l="l" t="t" r="r" b="b"/>
              <a:pathLst>
                <a:path w="301143" h="301143">
                  <a:moveTo>
                    <a:pt x="0" y="0"/>
                  </a:moveTo>
                  <a:lnTo>
                    <a:pt x="301143" y="0"/>
                  </a:lnTo>
                  <a:lnTo>
                    <a:pt x="301143" y="301143"/>
                  </a:lnTo>
                  <a:lnTo>
                    <a:pt x="0" y="301143"/>
                  </a:lnTo>
                  <a:close/>
                </a:path>
              </a:pathLst>
            </a:custGeom>
            <a:solidFill>
              <a:srgbClr val="535B2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1143" cy="348768"/>
            </a:xfrm>
            <a:prstGeom prst="rect">
              <a:avLst/>
            </a:prstGeom>
          </p:spPr>
          <p:txBody>
            <a:bodyPr lIns="36189" tIns="36189" rIns="36189" bIns="36189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57512" y="5059917"/>
            <a:ext cx="1037949" cy="1037949"/>
            <a:chOff x="0" y="0"/>
            <a:chExt cx="301143" cy="3011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1143" cy="301143"/>
            </a:xfrm>
            <a:custGeom>
              <a:avLst/>
              <a:gdLst/>
              <a:ahLst/>
              <a:cxnLst/>
              <a:rect l="l" t="t" r="r" b="b"/>
              <a:pathLst>
                <a:path w="301143" h="301143">
                  <a:moveTo>
                    <a:pt x="0" y="0"/>
                  </a:moveTo>
                  <a:lnTo>
                    <a:pt x="301143" y="0"/>
                  </a:lnTo>
                  <a:lnTo>
                    <a:pt x="301143" y="301143"/>
                  </a:lnTo>
                  <a:lnTo>
                    <a:pt x="0" y="301143"/>
                  </a:lnTo>
                  <a:close/>
                </a:path>
              </a:pathLst>
            </a:custGeom>
            <a:solidFill>
              <a:srgbClr val="535B2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01143" cy="348768"/>
            </a:xfrm>
            <a:prstGeom prst="rect">
              <a:avLst/>
            </a:prstGeom>
          </p:spPr>
          <p:txBody>
            <a:bodyPr lIns="36189" tIns="36189" rIns="36189" bIns="36189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57512" y="7256778"/>
            <a:ext cx="1037949" cy="1037949"/>
            <a:chOff x="0" y="0"/>
            <a:chExt cx="301143" cy="3011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1143" cy="301143"/>
            </a:xfrm>
            <a:custGeom>
              <a:avLst/>
              <a:gdLst/>
              <a:ahLst/>
              <a:cxnLst/>
              <a:rect l="l" t="t" r="r" b="b"/>
              <a:pathLst>
                <a:path w="301143" h="301143">
                  <a:moveTo>
                    <a:pt x="0" y="0"/>
                  </a:moveTo>
                  <a:lnTo>
                    <a:pt x="301143" y="0"/>
                  </a:lnTo>
                  <a:lnTo>
                    <a:pt x="301143" y="301143"/>
                  </a:lnTo>
                  <a:lnTo>
                    <a:pt x="0" y="301143"/>
                  </a:lnTo>
                  <a:close/>
                </a:path>
              </a:pathLst>
            </a:custGeom>
            <a:solidFill>
              <a:srgbClr val="535B29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01143" cy="348768"/>
            </a:xfrm>
            <a:prstGeom prst="rect">
              <a:avLst/>
            </a:prstGeom>
          </p:spPr>
          <p:txBody>
            <a:bodyPr lIns="36189" tIns="36189" rIns="36189" bIns="36189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826351" y="1633815"/>
            <a:ext cx="6432949" cy="7624485"/>
            <a:chOff x="0" y="0"/>
            <a:chExt cx="996632" cy="11812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6632" cy="1181232"/>
            </a:xfrm>
            <a:custGeom>
              <a:avLst/>
              <a:gdLst/>
              <a:ahLst/>
              <a:cxnLst/>
              <a:rect l="l" t="t" r="r" b="b"/>
              <a:pathLst>
                <a:path w="996632" h="1181232">
                  <a:moveTo>
                    <a:pt x="0" y="0"/>
                  </a:moveTo>
                  <a:lnTo>
                    <a:pt x="996632" y="0"/>
                  </a:lnTo>
                  <a:lnTo>
                    <a:pt x="996632" y="1181232"/>
                  </a:lnTo>
                  <a:lnTo>
                    <a:pt x="0" y="1181232"/>
                  </a:lnTo>
                  <a:close/>
                </a:path>
              </a:pathLst>
            </a:custGeom>
            <a:blipFill>
              <a:blip r:embed="rId2"/>
              <a:stretch>
                <a:fillRect l="-38792" r="-38792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5742832" y="512727"/>
            <a:ext cx="1052124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Search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643340"/>
            <a:ext cx="7157039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Gaps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7537" y="3081240"/>
            <a:ext cx="877900" cy="60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2"/>
              </a:lnSpc>
            </a:pPr>
            <a:r>
              <a:rPr lang="en-US" sz="39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7537" y="5272240"/>
            <a:ext cx="877900" cy="60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2"/>
              </a:lnSpc>
            </a:pPr>
            <a:r>
              <a:rPr lang="en-US" sz="39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7537" y="7469101"/>
            <a:ext cx="877900" cy="60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2"/>
              </a:lnSpc>
            </a:pPr>
            <a:r>
              <a:rPr lang="en-US" sz="39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73370" y="2696849"/>
            <a:ext cx="5269155" cy="134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7"/>
              </a:lnSpc>
              <a:spcBef>
                <a:spcPct val="0"/>
              </a:spcBef>
            </a:pPr>
            <a:r>
              <a:rPr lang="en-US" sz="25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advanced bird-control technologies are still too expensive for small-scale African farmers[4].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73370" y="4887849"/>
            <a:ext cx="5269155" cy="134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7"/>
              </a:lnSpc>
              <a:spcBef>
                <a:spcPct val="0"/>
              </a:spcBef>
            </a:pPr>
            <a:r>
              <a:rPr lang="en-US" sz="25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smart systems are often too complex or designed for larger farms rather than simple smallholder use [4].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73370" y="7084711"/>
            <a:ext cx="5269155" cy="134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7"/>
              </a:lnSpc>
              <a:spcBef>
                <a:spcPct val="0"/>
              </a:spcBef>
            </a:pPr>
            <a:r>
              <a:rPr lang="en-US" sz="25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Birds can get used to repeated sounds and traditional deterrents, making them less effective over tim [6].</a:t>
            </a:r>
          </a:p>
        </p:txBody>
      </p:sp>
      <p:sp>
        <p:nvSpPr>
          <p:cNvPr id="21" name="Freeform 21"/>
          <p:cNvSpPr/>
          <p:nvPr/>
        </p:nvSpPr>
        <p:spPr>
          <a:xfrm>
            <a:off x="-206523" y="125428"/>
            <a:ext cx="1605285" cy="1192498"/>
          </a:xfrm>
          <a:custGeom>
            <a:avLst/>
            <a:gdLst/>
            <a:ahLst/>
            <a:cxnLst/>
            <a:rect l="l" t="t" r="r" b="b"/>
            <a:pathLst>
              <a:path w="1605285" h="1192498">
                <a:moveTo>
                  <a:pt x="0" y="0"/>
                </a:moveTo>
                <a:lnTo>
                  <a:pt x="1605286" y="0"/>
                </a:lnTo>
                <a:lnTo>
                  <a:pt x="1605286" y="1192498"/>
                </a:lnTo>
                <a:lnTo>
                  <a:pt x="0" y="119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06280" y="4027526"/>
            <a:ext cx="7356647" cy="604530"/>
            <a:chOff x="0" y="0"/>
            <a:chExt cx="1937553" cy="1592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37553" cy="159218"/>
            </a:xfrm>
            <a:custGeom>
              <a:avLst/>
              <a:gdLst/>
              <a:ahLst/>
              <a:cxnLst/>
              <a:rect l="l" t="t" r="r" b="b"/>
              <a:pathLst>
                <a:path w="1937553" h="159218">
                  <a:moveTo>
                    <a:pt x="0" y="0"/>
                  </a:moveTo>
                  <a:lnTo>
                    <a:pt x="1937553" y="0"/>
                  </a:lnTo>
                  <a:lnTo>
                    <a:pt x="1937553" y="159218"/>
                  </a:lnTo>
                  <a:lnTo>
                    <a:pt x="0" y="159218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37553" cy="206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24178" y="6329253"/>
            <a:ext cx="7338750" cy="567441"/>
            <a:chOff x="0" y="0"/>
            <a:chExt cx="1932839" cy="1494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32839" cy="149449"/>
            </a:xfrm>
            <a:custGeom>
              <a:avLst/>
              <a:gdLst/>
              <a:ahLst/>
              <a:cxnLst/>
              <a:rect l="l" t="t" r="r" b="b"/>
              <a:pathLst>
                <a:path w="1932839" h="149449">
                  <a:moveTo>
                    <a:pt x="0" y="0"/>
                  </a:moveTo>
                  <a:lnTo>
                    <a:pt x="1932839" y="0"/>
                  </a:lnTo>
                  <a:lnTo>
                    <a:pt x="1932839" y="149449"/>
                  </a:lnTo>
                  <a:lnTo>
                    <a:pt x="0" y="149449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932839" cy="197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314172" y="0"/>
            <a:ext cx="3086100" cy="10287000"/>
            <a:chOff x="0" y="0"/>
            <a:chExt cx="812800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91502" y="4492174"/>
            <a:ext cx="5845340" cy="5252760"/>
            <a:chOff x="0" y="0"/>
            <a:chExt cx="905596" cy="8137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05596" cy="813790"/>
            </a:xfrm>
            <a:custGeom>
              <a:avLst/>
              <a:gdLst/>
              <a:ahLst/>
              <a:cxnLst/>
              <a:rect l="l" t="t" r="r" b="b"/>
              <a:pathLst>
                <a:path w="905596" h="813790">
                  <a:moveTo>
                    <a:pt x="0" y="0"/>
                  </a:moveTo>
                  <a:lnTo>
                    <a:pt x="905596" y="0"/>
                  </a:lnTo>
                  <a:lnTo>
                    <a:pt x="905596" y="813790"/>
                  </a:lnTo>
                  <a:lnTo>
                    <a:pt x="0" y="813790"/>
                  </a:lnTo>
                  <a:close/>
                </a:path>
              </a:pathLst>
            </a:custGeom>
            <a:blipFill>
              <a:blip r:embed="rId2"/>
              <a:stretch>
                <a:fillRect l="-17692" r="-1769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4268275" y="1479074"/>
            <a:ext cx="5211530" cy="4995571"/>
            <a:chOff x="0" y="0"/>
            <a:chExt cx="1372584" cy="131570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72584" cy="1315706"/>
            </a:xfrm>
            <a:custGeom>
              <a:avLst/>
              <a:gdLst/>
              <a:ahLst/>
              <a:cxnLst/>
              <a:rect l="l" t="t" r="r" b="b"/>
              <a:pathLst>
                <a:path w="1372584" h="1315706">
                  <a:moveTo>
                    <a:pt x="0" y="0"/>
                  </a:moveTo>
                  <a:lnTo>
                    <a:pt x="1372584" y="0"/>
                  </a:lnTo>
                  <a:lnTo>
                    <a:pt x="1372584" y="1315706"/>
                  </a:lnTo>
                  <a:lnTo>
                    <a:pt x="0" y="131570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35B29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372584" cy="1363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91911" y="1734514"/>
            <a:ext cx="4564258" cy="4286918"/>
            <a:chOff x="0" y="0"/>
            <a:chExt cx="707123" cy="6641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7123" cy="664156"/>
            </a:xfrm>
            <a:custGeom>
              <a:avLst/>
              <a:gdLst/>
              <a:ahLst/>
              <a:cxnLst/>
              <a:rect l="l" t="t" r="r" b="b"/>
              <a:pathLst>
                <a:path w="707123" h="664156">
                  <a:moveTo>
                    <a:pt x="0" y="0"/>
                  </a:moveTo>
                  <a:lnTo>
                    <a:pt x="707123" y="0"/>
                  </a:lnTo>
                  <a:lnTo>
                    <a:pt x="707123" y="664156"/>
                  </a:lnTo>
                  <a:lnTo>
                    <a:pt x="0" y="664156"/>
                  </a:lnTo>
                  <a:close/>
                </a:path>
              </a:pathLst>
            </a:custGeom>
            <a:blipFill>
              <a:blip r:embed="rId3"/>
              <a:stretch>
                <a:fillRect t="-3234" b="-3234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9479806" y="274800"/>
            <a:ext cx="7198589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Questions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05825" y="2273626"/>
            <a:ext cx="7053020" cy="3040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  <a:spcBef>
                <a:spcPct val="0"/>
              </a:spcBef>
            </a:pPr>
            <a:r>
              <a:rPr lang="en-US" sz="218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Does combining the camera and microphone results make bird detection more accurate and reduce false alarms compared to using only one?</a:t>
            </a:r>
          </a:p>
          <a:p>
            <a:pPr algn="l">
              <a:lnSpc>
                <a:spcPts val="3052"/>
              </a:lnSpc>
              <a:spcBef>
                <a:spcPct val="0"/>
              </a:spcBef>
            </a:pPr>
            <a:endParaRPr lang="en-US" sz="218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052"/>
              </a:lnSpc>
              <a:spcBef>
                <a:spcPct val="0"/>
              </a:spcBef>
            </a:pPr>
            <a:endParaRPr lang="en-US" sz="218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052"/>
              </a:lnSpc>
              <a:spcBef>
                <a:spcPct val="0"/>
              </a:spcBef>
            </a:pPr>
            <a:endParaRPr lang="en-US" sz="218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052"/>
              </a:lnSpc>
              <a:spcBef>
                <a:spcPct val="0"/>
              </a:spcBef>
            </a:pPr>
            <a:endParaRPr lang="en-US" sz="218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052"/>
              </a:lnSpc>
              <a:spcBef>
                <a:spcPct val="0"/>
              </a:spcBef>
            </a:pPr>
            <a:endParaRPr lang="en-US" sz="218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391739" y="4093394"/>
            <a:ext cx="3509554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02. Model Optimisation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24178" y="4822556"/>
            <a:ext cx="7338750" cy="1144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  <a:spcBef>
                <a:spcPct val="0"/>
              </a:spcBef>
            </a:pPr>
            <a:r>
              <a:rPr lang="en-US" sz="218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How can we make the camera and sound models small and efficient enough to detect birds accurately on low-cost farm devices?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41080" y="6385008"/>
            <a:ext cx="6904946" cy="119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03. Affordability</a:t>
            </a:r>
          </a:p>
          <a:p>
            <a:pPr algn="ctr">
              <a:lnSpc>
                <a:spcPts val="3220"/>
              </a:lnSpc>
            </a:pPr>
            <a:endParaRPr lang="en-US" sz="2300" b="1">
              <a:solidFill>
                <a:srgbClr val="FFFFFF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 b="1">
              <a:solidFill>
                <a:srgbClr val="FFFFFF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205825" y="7226479"/>
            <a:ext cx="7357102" cy="265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  <a:spcBef>
                <a:spcPct val="0"/>
              </a:spcBef>
            </a:pPr>
            <a:r>
              <a:rPr lang="en-US" sz="218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How can we design a low-cost, energy-efficient deterrent that responds to the bird detection results?</a:t>
            </a:r>
          </a:p>
          <a:p>
            <a:pPr algn="l">
              <a:lnSpc>
                <a:spcPts val="3052"/>
              </a:lnSpc>
              <a:spcBef>
                <a:spcPct val="0"/>
              </a:spcBef>
            </a:pPr>
            <a:endParaRPr lang="en-US" sz="218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052"/>
              </a:lnSpc>
              <a:spcBef>
                <a:spcPct val="0"/>
              </a:spcBef>
            </a:pPr>
            <a:endParaRPr lang="en-US" sz="218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052"/>
              </a:lnSpc>
              <a:spcBef>
                <a:spcPct val="0"/>
              </a:spcBef>
            </a:pPr>
            <a:endParaRPr lang="en-US" sz="218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052"/>
              </a:lnSpc>
              <a:spcBef>
                <a:spcPct val="0"/>
              </a:spcBef>
            </a:pPr>
            <a:endParaRPr lang="en-US" sz="218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052"/>
              </a:lnSpc>
              <a:spcBef>
                <a:spcPct val="0"/>
              </a:spcBef>
            </a:pPr>
            <a:endParaRPr lang="en-US" sz="218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0205825" y="1400569"/>
            <a:ext cx="7357102" cy="801127"/>
            <a:chOff x="0" y="0"/>
            <a:chExt cx="1937673" cy="21099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37673" cy="210996"/>
            </a:xfrm>
            <a:custGeom>
              <a:avLst/>
              <a:gdLst/>
              <a:ahLst/>
              <a:cxnLst/>
              <a:rect l="l" t="t" r="r" b="b"/>
              <a:pathLst>
                <a:path w="1937673" h="210996">
                  <a:moveTo>
                    <a:pt x="0" y="0"/>
                  </a:moveTo>
                  <a:lnTo>
                    <a:pt x="1937673" y="0"/>
                  </a:lnTo>
                  <a:lnTo>
                    <a:pt x="1937673" y="210996"/>
                  </a:lnTo>
                  <a:lnTo>
                    <a:pt x="0" y="210996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937673" cy="268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01. Deterrence Effectiveness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0" y="83364"/>
            <a:ext cx="1605285" cy="1192498"/>
          </a:xfrm>
          <a:custGeom>
            <a:avLst/>
            <a:gdLst/>
            <a:ahLst/>
            <a:cxnLst/>
            <a:rect l="l" t="t" r="r" b="b"/>
            <a:pathLst>
              <a:path w="1605285" h="1192498">
                <a:moveTo>
                  <a:pt x="0" y="0"/>
                </a:moveTo>
                <a:lnTo>
                  <a:pt x="1605285" y="0"/>
                </a:lnTo>
                <a:lnTo>
                  <a:pt x="1605285" y="1192498"/>
                </a:lnTo>
                <a:lnTo>
                  <a:pt x="0" y="1192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3134" y="4195716"/>
            <a:ext cx="4655157" cy="836390"/>
            <a:chOff x="0" y="0"/>
            <a:chExt cx="1226050" cy="2202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6049" cy="220284"/>
            </a:xfrm>
            <a:custGeom>
              <a:avLst/>
              <a:gdLst/>
              <a:ahLst/>
              <a:cxnLst/>
              <a:rect l="l" t="t" r="r" b="b"/>
              <a:pathLst>
                <a:path w="1226049" h="220284">
                  <a:moveTo>
                    <a:pt x="0" y="0"/>
                  </a:moveTo>
                  <a:lnTo>
                    <a:pt x="1226049" y="0"/>
                  </a:lnTo>
                  <a:lnTo>
                    <a:pt x="1226049" y="220284"/>
                  </a:lnTo>
                  <a:lnTo>
                    <a:pt x="0" y="220284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26050" cy="267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26895" y="6947638"/>
            <a:ext cx="4655157" cy="805889"/>
            <a:chOff x="0" y="0"/>
            <a:chExt cx="1226050" cy="2122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6049" cy="212251"/>
            </a:xfrm>
            <a:custGeom>
              <a:avLst/>
              <a:gdLst/>
              <a:ahLst/>
              <a:cxnLst/>
              <a:rect l="l" t="t" r="r" b="b"/>
              <a:pathLst>
                <a:path w="1226049" h="212251">
                  <a:moveTo>
                    <a:pt x="0" y="0"/>
                  </a:moveTo>
                  <a:lnTo>
                    <a:pt x="1226049" y="0"/>
                  </a:lnTo>
                  <a:lnTo>
                    <a:pt x="1226049" y="212251"/>
                  </a:lnTo>
                  <a:lnTo>
                    <a:pt x="0" y="212251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26050" cy="259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314172" y="0"/>
            <a:ext cx="3086100" cy="10287000"/>
            <a:chOff x="0" y="0"/>
            <a:chExt cx="812800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09197" y="1727828"/>
            <a:ext cx="6683662" cy="6406699"/>
            <a:chOff x="0" y="0"/>
            <a:chExt cx="1372584" cy="131570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72584" cy="1315706"/>
            </a:xfrm>
            <a:custGeom>
              <a:avLst/>
              <a:gdLst/>
              <a:ahLst/>
              <a:cxnLst/>
              <a:rect l="l" t="t" r="r" b="b"/>
              <a:pathLst>
                <a:path w="1372584" h="1315706">
                  <a:moveTo>
                    <a:pt x="0" y="0"/>
                  </a:moveTo>
                  <a:lnTo>
                    <a:pt x="1372584" y="0"/>
                  </a:lnTo>
                  <a:lnTo>
                    <a:pt x="1372584" y="1315706"/>
                  </a:lnTo>
                  <a:lnTo>
                    <a:pt x="0" y="131570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35B29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372584" cy="1363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24252" y="2055423"/>
            <a:ext cx="5853551" cy="5497869"/>
            <a:chOff x="0" y="0"/>
            <a:chExt cx="707123" cy="6641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7123" cy="664156"/>
            </a:xfrm>
            <a:custGeom>
              <a:avLst/>
              <a:gdLst/>
              <a:ahLst/>
              <a:cxnLst/>
              <a:rect l="l" t="t" r="r" b="b"/>
              <a:pathLst>
                <a:path w="707123" h="664156">
                  <a:moveTo>
                    <a:pt x="0" y="0"/>
                  </a:moveTo>
                  <a:lnTo>
                    <a:pt x="707123" y="0"/>
                  </a:lnTo>
                  <a:lnTo>
                    <a:pt x="707123" y="664156"/>
                  </a:lnTo>
                  <a:lnTo>
                    <a:pt x="0" y="664156"/>
                  </a:lnTo>
                  <a:close/>
                </a:path>
              </a:pathLst>
            </a:custGeom>
            <a:blipFill>
              <a:blip r:embed="rId2"/>
              <a:stretch>
                <a:fillRect l="-22338" r="-22338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0427932" y="1479074"/>
            <a:ext cx="4729599" cy="722622"/>
            <a:chOff x="0" y="0"/>
            <a:chExt cx="1245656" cy="1903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45656" cy="190320"/>
            </a:xfrm>
            <a:custGeom>
              <a:avLst/>
              <a:gdLst/>
              <a:ahLst/>
              <a:cxnLst/>
              <a:rect l="l" t="t" r="r" b="b"/>
              <a:pathLst>
                <a:path w="1245656" h="190320">
                  <a:moveTo>
                    <a:pt x="0" y="0"/>
                  </a:moveTo>
                  <a:lnTo>
                    <a:pt x="1245656" y="0"/>
                  </a:lnTo>
                  <a:lnTo>
                    <a:pt x="1245656" y="190320"/>
                  </a:lnTo>
                  <a:lnTo>
                    <a:pt x="0" y="190320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245656" cy="247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01. Models Develpment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3911" y="143701"/>
            <a:ext cx="1605285" cy="1192498"/>
          </a:xfrm>
          <a:custGeom>
            <a:avLst/>
            <a:gdLst/>
            <a:ahLst/>
            <a:cxnLst/>
            <a:rect l="l" t="t" r="r" b="b"/>
            <a:pathLst>
              <a:path w="1605285" h="1192498">
                <a:moveTo>
                  <a:pt x="0" y="0"/>
                </a:moveTo>
                <a:lnTo>
                  <a:pt x="1605286" y="0"/>
                </a:lnTo>
                <a:lnTo>
                  <a:pt x="1605286" y="1192498"/>
                </a:lnTo>
                <a:lnTo>
                  <a:pt x="0" y="119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101907" y="459058"/>
            <a:ext cx="986749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Contributions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23134" y="2531908"/>
            <a:ext cx="7546271" cy="108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056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Develop small, efficient camera and sound models that can detect important crop-raiding birds on low-cost farm devices.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76970" y="4435024"/>
            <a:ext cx="3547486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02. Improved Accuracy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27932" y="5294987"/>
            <a:ext cx="7338750" cy="1071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4"/>
              </a:lnSpc>
              <a:spcBef>
                <a:spcPct val="0"/>
              </a:spcBef>
            </a:pPr>
            <a:r>
              <a:rPr lang="en-US" sz="206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Create a simple fusion method that combines camera and sound results to make bird detection more accurate and reduce false alarms.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47964" y="7166713"/>
            <a:ext cx="3889533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03. Effective Detterence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26895" y="8020227"/>
            <a:ext cx="6732405" cy="1071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4"/>
              </a:lnSpc>
              <a:spcBef>
                <a:spcPct val="0"/>
              </a:spcBef>
            </a:pPr>
            <a:r>
              <a:rPr lang="en-US" sz="206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 affordable, energy-efficient sound-based deterrent that varies acoustic signals to prevent bird habituation.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7512" y="2868917"/>
            <a:ext cx="1037949" cy="1037949"/>
            <a:chOff x="0" y="0"/>
            <a:chExt cx="301143" cy="3011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143" cy="301143"/>
            </a:xfrm>
            <a:custGeom>
              <a:avLst/>
              <a:gdLst/>
              <a:ahLst/>
              <a:cxnLst/>
              <a:rect l="l" t="t" r="r" b="b"/>
              <a:pathLst>
                <a:path w="301143" h="301143">
                  <a:moveTo>
                    <a:pt x="0" y="0"/>
                  </a:moveTo>
                  <a:lnTo>
                    <a:pt x="301143" y="0"/>
                  </a:lnTo>
                  <a:lnTo>
                    <a:pt x="301143" y="301143"/>
                  </a:lnTo>
                  <a:lnTo>
                    <a:pt x="0" y="301143"/>
                  </a:lnTo>
                  <a:close/>
                </a:path>
              </a:pathLst>
            </a:custGeom>
            <a:solidFill>
              <a:srgbClr val="535B2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1143" cy="348768"/>
            </a:xfrm>
            <a:prstGeom prst="rect">
              <a:avLst/>
            </a:prstGeom>
          </p:spPr>
          <p:txBody>
            <a:bodyPr lIns="36189" tIns="36189" rIns="36189" bIns="36189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57512" y="5059917"/>
            <a:ext cx="1037949" cy="1037949"/>
            <a:chOff x="0" y="0"/>
            <a:chExt cx="301143" cy="3011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1143" cy="301143"/>
            </a:xfrm>
            <a:custGeom>
              <a:avLst/>
              <a:gdLst/>
              <a:ahLst/>
              <a:cxnLst/>
              <a:rect l="l" t="t" r="r" b="b"/>
              <a:pathLst>
                <a:path w="301143" h="301143">
                  <a:moveTo>
                    <a:pt x="0" y="0"/>
                  </a:moveTo>
                  <a:lnTo>
                    <a:pt x="301143" y="0"/>
                  </a:lnTo>
                  <a:lnTo>
                    <a:pt x="301143" y="301143"/>
                  </a:lnTo>
                  <a:lnTo>
                    <a:pt x="0" y="301143"/>
                  </a:lnTo>
                  <a:close/>
                </a:path>
              </a:pathLst>
            </a:custGeom>
            <a:solidFill>
              <a:srgbClr val="535B2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01143" cy="348768"/>
            </a:xfrm>
            <a:prstGeom prst="rect">
              <a:avLst/>
            </a:prstGeom>
          </p:spPr>
          <p:txBody>
            <a:bodyPr lIns="36189" tIns="36189" rIns="36189" bIns="36189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57512" y="7256778"/>
            <a:ext cx="1037949" cy="1037949"/>
            <a:chOff x="0" y="0"/>
            <a:chExt cx="301143" cy="3011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1143" cy="301143"/>
            </a:xfrm>
            <a:custGeom>
              <a:avLst/>
              <a:gdLst/>
              <a:ahLst/>
              <a:cxnLst/>
              <a:rect l="l" t="t" r="r" b="b"/>
              <a:pathLst>
                <a:path w="301143" h="301143">
                  <a:moveTo>
                    <a:pt x="0" y="0"/>
                  </a:moveTo>
                  <a:lnTo>
                    <a:pt x="301143" y="0"/>
                  </a:lnTo>
                  <a:lnTo>
                    <a:pt x="301143" y="301143"/>
                  </a:lnTo>
                  <a:lnTo>
                    <a:pt x="0" y="301143"/>
                  </a:lnTo>
                  <a:close/>
                </a:path>
              </a:pathLst>
            </a:custGeom>
            <a:solidFill>
              <a:srgbClr val="535B29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01143" cy="348768"/>
            </a:xfrm>
            <a:prstGeom prst="rect">
              <a:avLst/>
            </a:prstGeom>
          </p:spPr>
          <p:txBody>
            <a:bodyPr lIns="36189" tIns="36189" rIns="36189" bIns="36189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826351" y="1633815"/>
            <a:ext cx="6432949" cy="7624485"/>
            <a:chOff x="0" y="0"/>
            <a:chExt cx="996632" cy="11812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6632" cy="1181232"/>
            </a:xfrm>
            <a:custGeom>
              <a:avLst/>
              <a:gdLst/>
              <a:ahLst/>
              <a:cxnLst/>
              <a:rect l="l" t="t" r="r" b="b"/>
              <a:pathLst>
                <a:path w="996632" h="1181232">
                  <a:moveTo>
                    <a:pt x="0" y="0"/>
                  </a:moveTo>
                  <a:lnTo>
                    <a:pt x="996632" y="0"/>
                  </a:lnTo>
                  <a:lnTo>
                    <a:pt x="996632" y="1181232"/>
                  </a:lnTo>
                  <a:lnTo>
                    <a:pt x="0" y="1181232"/>
                  </a:lnTo>
                  <a:close/>
                </a:path>
              </a:pathLst>
            </a:custGeom>
            <a:blipFill>
              <a:blip r:embed="rId2"/>
              <a:stretch>
                <a:fillRect l="-39114" r="-39114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157512" y="512727"/>
            <a:ext cx="1052124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Search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535046"/>
            <a:ext cx="777861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Objectives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7537" y="3081240"/>
            <a:ext cx="877900" cy="60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2"/>
              </a:lnSpc>
            </a:pPr>
            <a:r>
              <a:rPr lang="en-US" sz="39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7537" y="5272240"/>
            <a:ext cx="877900" cy="60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2"/>
              </a:lnSpc>
            </a:pPr>
            <a:r>
              <a:rPr lang="en-US" sz="39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7537" y="7469101"/>
            <a:ext cx="877900" cy="60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2"/>
              </a:lnSpc>
            </a:pPr>
            <a:r>
              <a:rPr lang="en-US" sz="394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73370" y="2696849"/>
            <a:ext cx="5269155" cy="179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7"/>
              </a:lnSpc>
              <a:spcBef>
                <a:spcPct val="0"/>
              </a:spcBef>
            </a:pPr>
            <a:r>
              <a:rPr lang="en-US" sz="25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 decision-level fusion framework that combines the acoustic information for reliable bird identification.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73370" y="4887849"/>
            <a:ext cx="5269155" cy="179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7"/>
              </a:lnSpc>
              <a:spcBef>
                <a:spcPct val="0"/>
              </a:spcBef>
            </a:pPr>
            <a:r>
              <a:rPr lang="en-US" sz="25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 and optimize lightweight vision and acoustic machine learning models for reliable bird detection on low-cost edge devices.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73370" y="7029024"/>
            <a:ext cx="5269155" cy="2696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7"/>
              </a:lnSpc>
              <a:spcBef>
                <a:spcPct val="0"/>
              </a:spcBef>
            </a:pPr>
            <a:r>
              <a:rPr lang="en-US" sz="25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integrate and evaluate the complete multimodal system for real-time bird deterrence, assessing detection reliability, response time, and deterrence effectiveness in agricultural environments.</a:t>
            </a:r>
          </a:p>
        </p:txBody>
      </p:sp>
      <p:sp>
        <p:nvSpPr>
          <p:cNvPr id="21" name="Freeform 21"/>
          <p:cNvSpPr/>
          <p:nvPr/>
        </p:nvSpPr>
        <p:spPr>
          <a:xfrm>
            <a:off x="0" y="192704"/>
            <a:ext cx="1605285" cy="1192498"/>
          </a:xfrm>
          <a:custGeom>
            <a:avLst/>
            <a:gdLst/>
            <a:ahLst/>
            <a:cxnLst/>
            <a:rect l="l" t="t" r="r" b="b"/>
            <a:pathLst>
              <a:path w="1605285" h="1192498">
                <a:moveTo>
                  <a:pt x="0" y="0"/>
                </a:moveTo>
                <a:lnTo>
                  <a:pt x="1605285" y="0"/>
                </a:lnTo>
                <a:lnTo>
                  <a:pt x="1605285" y="1192497"/>
                </a:lnTo>
                <a:lnTo>
                  <a:pt x="0" y="119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8165" y="2517120"/>
            <a:ext cx="8370075" cy="5142719"/>
            <a:chOff x="0" y="0"/>
            <a:chExt cx="1324490" cy="8137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4490" cy="813790"/>
            </a:xfrm>
            <a:custGeom>
              <a:avLst/>
              <a:gdLst/>
              <a:ahLst/>
              <a:cxnLst/>
              <a:rect l="l" t="t" r="r" b="b"/>
              <a:pathLst>
                <a:path w="1324490" h="813790">
                  <a:moveTo>
                    <a:pt x="0" y="0"/>
                  </a:moveTo>
                  <a:lnTo>
                    <a:pt x="1324490" y="0"/>
                  </a:lnTo>
                  <a:lnTo>
                    <a:pt x="1324490" y="813790"/>
                  </a:lnTo>
                  <a:lnTo>
                    <a:pt x="0" y="813790"/>
                  </a:lnTo>
                  <a:close/>
                </a:path>
              </a:pathLst>
            </a:custGeom>
            <a:blipFill>
              <a:blip r:embed="rId2"/>
              <a:stretch>
                <a:fillRect l="-10971" b="-21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771110" y="2531757"/>
            <a:ext cx="9139445" cy="5223486"/>
            <a:chOff x="0" y="0"/>
            <a:chExt cx="1787267" cy="10214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87266" cy="1021480"/>
            </a:xfrm>
            <a:custGeom>
              <a:avLst/>
              <a:gdLst/>
              <a:ahLst/>
              <a:cxnLst/>
              <a:rect l="l" t="t" r="r" b="b"/>
              <a:pathLst>
                <a:path w="1787266" h="1021480">
                  <a:moveTo>
                    <a:pt x="0" y="0"/>
                  </a:moveTo>
                  <a:lnTo>
                    <a:pt x="1787266" y="0"/>
                  </a:lnTo>
                  <a:lnTo>
                    <a:pt x="1787266" y="1021480"/>
                  </a:lnTo>
                  <a:lnTo>
                    <a:pt x="0" y="1021480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787267" cy="1069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096738" y="2859583"/>
            <a:ext cx="8488190" cy="3759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477" lvl="1" indent="-285738" algn="l">
              <a:lnSpc>
                <a:spcPts val="3705"/>
              </a:lnSpc>
              <a:buFont typeface="Arial"/>
              <a:buChar char="•"/>
            </a:pPr>
            <a:r>
              <a:rPr lang="en-US" sz="264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solution is a smart, low-cost bird deterrence system designed for small-scale African farms. </a:t>
            </a:r>
          </a:p>
          <a:p>
            <a:pPr marL="571477" lvl="1" indent="-285738" algn="l">
              <a:lnSpc>
                <a:spcPts val="3705"/>
              </a:lnSpc>
              <a:buFont typeface="Arial"/>
              <a:buChar char="•"/>
            </a:pPr>
            <a:r>
              <a:rPr lang="en-US" sz="264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automatically detects when birds enter the field and responds, helping farmers protect their crops without constant manual monitoring. </a:t>
            </a:r>
          </a:p>
          <a:p>
            <a:pPr marL="571477" lvl="1" indent="-285738" algn="l">
              <a:lnSpc>
                <a:spcPts val="3705"/>
              </a:lnSpc>
              <a:buFont typeface="Arial"/>
              <a:buChar char="•"/>
            </a:pPr>
            <a:r>
              <a:rPr lang="en-US" sz="264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is designed to work offline, run on solar power, and operate autonomously</a:t>
            </a:r>
          </a:p>
          <a:p>
            <a:pPr marL="1142953" lvl="2" indent="-380984" algn="l">
              <a:lnSpc>
                <a:spcPts val="3705"/>
              </a:lnSpc>
              <a:buFont typeface="Arial"/>
              <a:buChar char="⚬"/>
            </a:pPr>
            <a:r>
              <a:rPr lang="en-US" sz="264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for areas with limited infrastructure.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38152" y="1256589"/>
            <a:ext cx="7198589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Solution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54566"/>
            <a:ext cx="1605285" cy="1192498"/>
          </a:xfrm>
          <a:custGeom>
            <a:avLst/>
            <a:gdLst/>
            <a:ahLst/>
            <a:cxnLst/>
            <a:rect l="l" t="t" r="r" b="b"/>
            <a:pathLst>
              <a:path w="1605285" h="1192498">
                <a:moveTo>
                  <a:pt x="0" y="0"/>
                </a:moveTo>
                <a:lnTo>
                  <a:pt x="1605285" y="0"/>
                </a:lnTo>
                <a:lnTo>
                  <a:pt x="1605285" y="1192498"/>
                </a:lnTo>
                <a:lnTo>
                  <a:pt x="0" y="119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47625" y="-312506"/>
            <a:ext cx="3540375" cy="10912011"/>
            <a:chOff x="0" y="0"/>
            <a:chExt cx="932445" cy="28739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32445" cy="2873945"/>
            </a:xfrm>
            <a:custGeom>
              <a:avLst/>
              <a:gdLst/>
              <a:ahLst/>
              <a:cxnLst/>
              <a:rect l="l" t="t" r="r" b="b"/>
              <a:pathLst>
                <a:path w="932445" h="2873945">
                  <a:moveTo>
                    <a:pt x="0" y="0"/>
                  </a:moveTo>
                  <a:lnTo>
                    <a:pt x="932445" y="0"/>
                  </a:lnTo>
                  <a:lnTo>
                    <a:pt x="932445" y="2873945"/>
                  </a:lnTo>
                  <a:lnTo>
                    <a:pt x="0" y="2873945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32445" cy="2921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52051" y="0"/>
            <a:ext cx="428745" cy="10287000"/>
            <a:chOff x="0" y="0"/>
            <a:chExt cx="11292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2921" cy="2709333"/>
            </a:xfrm>
            <a:custGeom>
              <a:avLst/>
              <a:gdLst/>
              <a:ahLst/>
              <a:cxnLst/>
              <a:rect l="l" t="t" r="r" b="b"/>
              <a:pathLst>
                <a:path w="112921" h="2709333">
                  <a:moveTo>
                    <a:pt x="0" y="0"/>
                  </a:moveTo>
                  <a:lnTo>
                    <a:pt x="112921" y="0"/>
                  </a:lnTo>
                  <a:lnTo>
                    <a:pt x="11292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12921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01231" y="250540"/>
            <a:ext cx="1605285" cy="1192498"/>
          </a:xfrm>
          <a:custGeom>
            <a:avLst/>
            <a:gdLst/>
            <a:ahLst/>
            <a:cxnLst/>
            <a:rect l="l" t="t" r="r" b="b"/>
            <a:pathLst>
              <a:path w="1605285" h="1192498">
                <a:moveTo>
                  <a:pt x="0" y="0"/>
                </a:moveTo>
                <a:lnTo>
                  <a:pt x="1605285" y="0"/>
                </a:lnTo>
                <a:lnTo>
                  <a:pt x="1605285" y="1192498"/>
                </a:lnTo>
                <a:lnTo>
                  <a:pt x="0" y="1192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2601524"/>
            <a:ext cx="18288000" cy="6385180"/>
          </a:xfrm>
          <a:custGeom>
            <a:avLst/>
            <a:gdLst/>
            <a:ahLst/>
            <a:cxnLst/>
            <a:rect l="l" t="t" r="r" b="b"/>
            <a:pathLst>
              <a:path w="18288000" h="6385180">
                <a:moveTo>
                  <a:pt x="0" y="0"/>
                </a:moveTo>
                <a:lnTo>
                  <a:pt x="18288000" y="0"/>
                </a:lnTo>
                <a:lnTo>
                  <a:pt x="18288000" y="6385179"/>
                </a:lnTo>
                <a:lnTo>
                  <a:pt x="0" y="6385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" r="-32" b="-96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480796" y="623887"/>
            <a:ext cx="793146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Overview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9709" y="2267880"/>
            <a:ext cx="7329736" cy="6558251"/>
            <a:chOff x="0" y="0"/>
            <a:chExt cx="1124759" cy="1006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4759" cy="1006374"/>
            </a:xfrm>
            <a:custGeom>
              <a:avLst/>
              <a:gdLst/>
              <a:ahLst/>
              <a:cxnLst/>
              <a:rect l="l" t="t" r="r" b="b"/>
              <a:pathLst>
                <a:path w="1124759" h="1006374">
                  <a:moveTo>
                    <a:pt x="0" y="0"/>
                  </a:moveTo>
                  <a:lnTo>
                    <a:pt x="1124759" y="0"/>
                  </a:lnTo>
                  <a:lnTo>
                    <a:pt x="1124759" y="1006374"/>
                  </a:lnTo>
                  <a:lnTo>
                    <a:pt x="0" y="1006374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24759" cy="105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67348" y="2513952"/>
            <a:ext cx="6174458" cy="5927479"/>
          </a:xfrm>
          <a:custGeom>
            <a:avLst/>
            <a:gdLst/>
            <a:ahLst/>
            <a:cxnLst/>
            <a:rect l="l" t="t" r="r" b="b"/>
            <a:pathLst>
              <a:path w="6174458" h="5927479">
                <a:moveTo>
                  <a:pt x="0" y="0"/>
                </a:moveTo>
                <a:lnTo>
                  <a:pt x="6174458" y="0"/>
                </a:lnTo>
                <a:lnTo>
                  <a:pt x="6174458" y="5927479"/>
                </a:lnTo>
                <a:lnTo>
                  <a:pt x="0" y="5927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89709" y="459292"/>
            <a:ext cx="9476034" cy="1566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98"/>
              </a:lnSpc>
              <a:spcBef>
                <a:spcPct val="0"/>
              </a:spcBef>
            </a:pPr>
            <a:r>
              <a:rPr lang="en-US" sz="9213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Estimated Cost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34167" y="3766057"/>
            <a:ext cx="5885278" cy="672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6"/>
              </a:lnSpc>
              <a:spcBef>
                <a:spcPct val="0"/>
              </a:spcBef>
            </a:pPr>
            <a:r>
              <a:rPr lang="en-US" sz="3947" b="1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~$50 per node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34167" y="5434763"/>
            <a:ext cx="5885278" cy="672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6"/>
              </a:lnSpc>
              <a:spcBef>
                <a:spcPct val="0"/>
              </a:spcBef>
            </a:pPr>
            <a:r>
              <a:rPr lang="en-US" sz="3947" b="1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&lt; $40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34167" y="6049690"/>
            <a:ext cx="4498479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Target cost with bulk sourcing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34167" y="4380984"/>
            <a:ext cx="3173537" cy="415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Estimated prototype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084" y="2025496"/>
            <a:ext cx="9409916" cy="70171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1231" y="250540"/>
            <a:ext cx="1605285" cy="1192498"/>
          </a:xfrm>
          <a:custGeom>
            <a:avLst/>
            <a:gdLst/>
            <a:ahLst/>
            <a:cxnLst/>
            <a:rect l="l" t="t" r="r" b="b"/>
            <a:pathLst>
              <a:path w="1605285" h="1192498">
                <a:moveTo>
                  <a:pt x="0" y="0"/>
                </a:moveTo>
                <a:lnTo>
                  <a:pt x="1605285" y="0"/>
                </a:lnTo>
                <a:lnTo>
                  <a:pt x="1605285" y="1192498"/>
                </a:lnTo>
                <a:lnTo>
                  <a:pt x="0" y="1192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08756" y="2995002"/>
            <a:ext cx="16457119" cy="6263298"/>
          </a:xfrm>
          <a:custGeom>
            <a:avLst/>
            <a:gdLst/>
            <a:ahLst/>
            <a:cxnLst/>
            <a:rect l="l" t="t" r="r" b="b"/>
            <a:pathLst>
              <a:path w="16457119" h="6263298">
                <a:moveTo>
                  <a:pt x="0" y="0"/>
                </a:moveTo>
                <a:lnTo>
                  <a:pt x="16457120" y="0"/>
                </a:lnTo>
                <a:lnTo>
                  <a:pt x="16457120" y="6263298"/>
                </a:lnTo>
                <a:lnTo>
                  <a:pt x="0" y="6263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82" t="-1018" r="-189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77571" y="856314"/>
            <a:ext cx="793146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Action Plan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340935"/>
            <a:ext cx="15965252" cy="6917365"/>
            <a:chOff x="0" y="0"/>
            <a:chExt cx="3122089" cy="13527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2089" cy="1352727"/>
            </a:xfrm>
            <a:custGeom>
              <a:avLst/>
              <a:gdLst/>
              <a:ahLst/>
              <a:cxnLst/>
              <a:rect l="l" t="t" r="r" b="b"/>
              <a:pathLst>
                <a:path w="3122089" h="1352727">
                  <a:moveTo>
                    <a:pt x="0" y="0"/>
                  </a:moveTo>
                  <a:lnTo>
                    <a:pt x="3122089" y="0"/>
                  </a:lnTo>
                  <a:lnTo>
                    <a:pt x="3122089" y="1352727"/>
                  </a:lnTo>
                  <a:lnTo>
                    <a:pt x="0" y="1352727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122089" cy="1400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5967" y="2498984"/>
            <a:ext cx="14916066" cy="650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4906" lvl="1" indent="-362453" algn="l">
              <a:lnSpc>
                <a:spcPts val="4700"/>
              </a:lnSpc>
              <a:buFont typeface="Arial"/>
              <a:buChar char="•"/>
            </a:pPr>
            <a:r>
              <a:rPr lang="en-US" sz="33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Fewer birds destroying crops and therefore lower crop losses.</a:t>
            </a:r>
          </a:p>
          <a:p>
            <a:pPr marL="724906" lvl="1" indent="-362453" algn="l">
              <a:lnSpc>
                <a:spcPts val="4700"/>
              </a:lnSpc>
              <a:buFont typeface="Arial"/>
              <a:buChar char="•"/>
            </a:pPr>
            <a:r>
              <a:rPr lang="en-US" sz="33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Birds react collectively. If a few birds at the edge of a flock are startled, the escape response can spread through the rest of the flock.</a:t>
            </a:r>
          </a:p>
          <a:p>
            <a:pPr marL="724906" lvl="1" indent="-362453" algn="l">
              <a:lnSpc>
                <a:spcPts val="4700"/>
              </a:lnSpc>
              <a:buFont typeface="Arial"/>
              <a:buChar char="•"/>
            </a:pPr>
            <a:r>
              <a:rPr lang="en-US" sz="33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accurate detection by combining camera and microphone information.</a:t>
            </a:r>
          </a:p>
          <a:p>
            <a:pPr marL="724906" lvl="1" indent="-362453" algn="l">
              <a:lnSpc>
                <a:spcPts val="4700"/>
              </a:lnSpc>
              <a:buFont typeface="Arial"/>
              <a:buChar char="•"/>
            </a:pPr>
            <a:r>
              <a:rPr lang="en-US" sz="33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bird habituation by using short and varied deterrent signals instead of continuous noise.</a:t>
            </a:r>
          </a:p>
          <a:p>
            <a:pPr marL="724906" lvl="1" indent="-362453" algn="l">
              <a:lnSpc>
                <a:spcPts val="4700"/>
              </a:lnSpc>
              <a:buFont typeface="Arial"/>
              <a:buChar char="•"/>
            </a:pPr>
            <a:r>
              <a:rPr lang="en-US" sz="33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 offline operation, so the system can work in rural areas without internet access.</a:t>
            </a:r>
          </a:p>
          <a:p>
            <a:pPr marL="724906" lvl="1" indent="-362453" algn="l">
              <a:lnSpc>
                <a:spcPts val="4700"/>
              </a:lnSpc>
              <a:buFont typeface="Arial"/>
              <a:buChar char="•"/>
            </a:pPr>
            <a:r>
              <a:rPr lang="en-US" sz="33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Affordable and simple deployment for small-scale farmers.</a:t>
            </a:r>
          </a:p>
          <a:p>
            <a:pPr marL="724906" lvl="1" indent="-362453" algn="l">
              <a:lnSpc>
                <a:spcPts val="4700"/>
              </a:lnSpc>
              <a:buFont typeface="Arial"/>
              <a:buChar char="•"/>
            </a:pPr>
            <a:r>
              <a:rPr lang="en-US" sz="33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scalable solution, where additional units can be added if a larger area needs to be protected.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12032" y="1224431"/>
            <a:ext cx="7198589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Expected Results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245155"/>
            <a:ext cx="1605285" cy="1192498"/>
          </a:xfrm>
          <a:custGeom>
            <a:avLst/>
            <a:gdLst/>
            <a:ahLst/>
            <a:cxnLst/>
            <a:rect l="l" t="t" r="r" b="b"/>
            <a:pathLst>
              <a:path w="1605285" h="1192498">
                <a:moveTo>
                  <a:pt x="0" y="0"/>
                </a:moveTo>
                <a:lnTo>
                  <a:pt x="1605285" y="0"/>
                </a:lnTo>
                <a:lnTo>
                  <a:pt x="1605285" y="1192498"/>
                </a:lnTo>
                <a:lnTo>
                  <a:pt x="0" y="1192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2582" y="1911069"/>
            <a:ext cx="17043839" cy="8098673"/>
            <a:chOff x="0" y="0"/>
            <a:chExt cx="30177283" cy="14339255"/>
          </a:xfrm>
        </p:grpSpPr>
        <p:sp>
          <p:nvSpPr>
            <p:cNvPr id="3" name="Freeform 3"/>
            <p:cNvSpPr/>
            <p:nvPr/>
          </p:nvSpPr>
          <p:spPr>
            <a:xfrm>
              <a:off x="14575" y="22860"/>
              <a:ext cx="30144926" cy="14293534"/>
            </a:xfrm>
            <a:custGeom>
              <a:avLst/>
              <a:gdLst/>
              <a:ahLst/>
              <a:cxnLst/>
              <a:rect l="l" t="t" r="r" b="b"/>
              <a:pathLst>
                <a:path w="30144926" h="14293534">
                  <a:moveTo>
                    <a:pt x="30144927" y="452120"/>
                  </a:moveTo>
                  <a:cubicBezTo>
                    <a:pt x="30144927" y="452120"/>
                    <a:pt x="30141116" y="13335954"/>
                    <a:pt x="30141116" y="13335954"/>
                  </a:cubicBezTo>
                  <a:cubicBezTo>
                    <a:pt x="30141116" y="13589954"/>
                    <a:pt x="29950616" y="13784263"/>
                    <a:pt x="29696616" y="13790613"/>
                  </a:cubicBezTo>
                  <a:cubicBezTo>
                    <a:pt x="29700427" y="13794424"/>
                    <a:pt x="22438568" y="13791884"/>
                    <a:pt x="22437298" y="13794424"/>
                  </a:cubicBezTo>
                  <a:cubicBezTo>
                    <a:pt x="22437298" y="13794424"/>
                    <a:pt x="21524169" y="14293534"/>
                    <a:pt x="21524169" y="14293534"/>
                  </a:cubicBezTo>
                  <a:lnTo>
                    <a:pt x="8632855" y="14293534"/>
                  </a:lnTo>
                  <a:cubicBezTo>
                    <a:pt x="8632855" y="14293534"/>
                    <a:pt x="7701945" y="13789343"/>
                    <a:pt x="7701945" y="13789343"/>
                  </a:cubicBezTo>
                  <a:cubicBezTo>
                    <a:pt x="7701945" y="13789343"/>
                    <a:pt x="470564" y="13802043"/>
                    <a:pt x="470564" y="13802043"/>
                  </a:cubicBezTo>
                  <a:cubicBezTo>
                    <a:pt x="217834" y="13805854"/>
                    <a:pt x="8284" y="13603924"/>
                    <a:pt x="1934" y="13353734"/>
                  </a:cubicBezTo>
                  <a:cubicBezTo>
                    <a:pt x="-4416" y="13103543"/>
                    <a:pt x="7015" y="711200"/>
                    <a:pt x="5745" y="699770"/>
                  </a:cubicBezTo>
                  <a:cubicBezTo>
                    <a:pt x="5745" y="699770"/>
                    <a:pt x="1935" y="454660"/>
                    <a:pt x="1935" y="454660"/>
                  </a:cubicBezTo>
                  <a:cubicBezTo>
                    <a:pt x="1935" y="194310"/>
                    <a:pt x="202595" y="0"/>
                    <a:pt x="462945" y="0"/>
                  </a:cubicBezTo>
                  <a:cubicBezTo>
                    <a:pt x="462945" y="0"/>
                    <a:pt x="25857409" y="7620"/>
                    <a:pt x="29766469" y="3810"/>
                  </a:cubicBezTo>
                  <a:cubicBezTo>
                    <a:pt x="29977287" y="3810"/>
                    <a:pt x="30147469" y="242570"/>
                    <a:pt x="30143659" y="452120"/>
                  </a:cubicBezTo>
                  <a:close/>
                </a:path>
              </a:pathLst>
            </a:custGeom>
            <a:blipFill>
              <a:blip r:embed="rId2"/>
              <a:stretch>
                <a:fillRect t="-21808" r="-6341" b="-13725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-367" y="165"/>
              <a:ext cx="30178600" cy="14339088"/>
            </a:xfrm>
            <a:custGeom>
              <a:avLst/>
              <a:gdLst/>
              <a:ahLst/>
              <a:cxnLst/>
              <a:rect l="l" t="t" r="r" b="b"/>
              <a:pathLst>
                <a:path w="30178600" h="14339088">
                  <a:moveTo>
                    <a:pt x="21541651" y="14339088"/>
                  </a:moveTo>
                  <a:lnTo>
                    <a:pt x="8636367" y="14339088"/>
                  </a:lnTo>
                  <a:lnTo>
                    <a:pt x="7723237" y="13837438"/>
                  </a:lnTo>
                  <a:cubicBezTo>
                    <a:pt x="7723237" y="13837438"/>
                    <a:pt x="472806" y="13837438"/>
                    <a:pt x="472806" y="13837438"/>
                  </a:cubicBezTo>
                  <a:cubicBezTo>
                    <a:pt x="373746" y="13837438"/>
                    <a:pt x="270876" y="13803149"/>
                    <a:pt x="192136" y="13744728"/>
                  </a:cubicBezTo>
                  <a:cubicBezTo>
                    <a:pt x="72757" y="13654560"/>
                    <a:pt x="367" y="13513590"/>
                    <a:pt x="367" y="13364999"/>
                  </a:cubicBezTo>
                  <a:cubicBezTo>
                    <a:pt x="-903" y="13361190"/>
                    <a:pt x="1637" y="641185"/>
                    <a:pt x="367" y="636105"/>
                  </a:cubicBezTo>
                  <a:cubicBezTo>
                    <a:pt x="367" y="636105"/>
                    <a:pt x="367" y="473545"/>
                    <a:pt x="367" y="473545"/>
                  </a:cubicBezTo>
                  <a:cubicBezTo>
                    <a:pt x="367" y="213195"/>
                    <a:pt x="212457" y="2375"/>
                    <a:pt x="472807" y="2375"/>
                  </a:cubicBezTo>
                  <a:cubicBezTo>
                    <a:pt x="472807" y="2375"/>
                    <a:pt x="8012797" y="2375"/>
                    <a:pt x="8012797" y="2375"/>
                  </a:cubicBezTo>
                  <a:cubicBezTo>
                    <a:pt x="16053916" y="8725"/>
                    <a:pt x="25999351" y="-10325"/>
                    <a:pt x="29781411" y="8725"/>
                  </a:cubicBezTo>
                  <a:cubicBezTo>
                    <a:pt x="29877929" y="23965"/>
                    <a:pt x="29969372" y="70955"/>
                    <a:pt x="30037951" y="139535"/>
                  </a:cubicBezTo>
                  <a:cubicBezTo>
                    <a:pt x="30060811" y="162395"/>
                    <a:pt x="30078590" y="183985"/>
                    <a:pt x="30097640" y="210655"/>
                  </a:cubicBezTo>
                  <a:cubicBezTo>
                    <a:pt x="30139551" y="272885"/>
                    <a:pt x="30167490" y="350355"/>
                    <a:pt x="30175111" y="425285"/>
                  </a:cubicBezTo>
                  <a:cubicBezTo>
                    <a:pt x="30182729" y="444335"/>
                    <a:pt x="30175111" y="13335790"/>
                    <a:pt x="30177651" y="13364999"/>
                  </a:cubicBezTo>
                  <a:cubicBezTo>
                    <a:pt x="30177651" y="13618999"/>
                    <a:pt x="29971911" y="13829819"/>
                    <a:pt x="29717911" y="13836169"/>
                  </a:cubicBezTo>
                  <a:cubicBezTo>
                    <a:pt x="29712829" y="13836169"/>
                    <a:pt x="22463670" y="13836169"/>
                    <a:pt x="22456051" y="13836169"/>
                  </a:cubicBezTo>
                  <a:lnTo>
                    <a:pt x="21541651" y="14337819"/>
                  </a:lnTo>
                  <a:close/>
                  <a:moveTo>
                    <a:pt x="8645257" y="14302260"/>
                  </a:moveTo>
                  <a:lnTo>
                    <a:pt x="21531492" y="14302260"/>
                  </a:lnTo>
                  <a:lnTo>
                    <a:pt x="22445892" y="13800610"/>
                  </a:lnTo>
                  <a:cubicBezTo>
                    <a:pt x="22456051" y="13800610"/>
                    <a:pt x="29706479" y="13800610"/>
                    <a:pt x="29715372" y="13800610"/>
                  </a:cubicBezTo>
                  <a:cubicBezTo>
                    <a:pt x="29950322" y="13794260"/>
                    <a:pt x="30140822" y="13599951"/>
                    <a:pt x="30140822" y="13365001"/>
                  </a:cubicBezTo>
                  <a:lnTo>
                    <a:pt x="30140822" y="473545"/>
                  </a:lnTo>
                  <a:cubicBezTo>
                    <a:pt x="30140822" y="445605"/>
                    <a:pt x="30138279" y="416395"/>
                    <a:pt x="30131929" y="387185"/>
                  </a:cubicBezTo>
                  <a:cubicBezTo>
                    <a:pt x="30120501" y="331305"/>
                    <a:pt x="30097640" y="276695"/>
                    <a:pt x="30067161" y="229705"/>
                  </a:cubicBezTo>
                  <a:cubicBezTo>
                    <a:pt x="30050651" y="204305"/>
                    <a:pt x="30034140" y="185255"/>
                    <a:pt x="30012551" y="163665"/>
                  </a:cubicBezTo>
                  <a:cubicBezTo>
                    <a:pt x="29945240" y="97625"/>
                    <a:pt x="29857611" y="53175"/>
                    <a:pt x="29763629" y="41745"/>
                  </a:cubicBezTo>
                  <a:cubicBezTo>
                    <a:pt x="25967602" y="29045"/>
                    <a:pt x="15789679" y="41745"/>
                    <a:pt x="7931518" y="37935"/>
                  </a:cubicBezTo>
                  <a:cubicBezTo>
                    <a:pt x="7931518" y="37935"/>
                    <a:pt x="474077" y="37935"/>
                    <a:pt x="474077" y="37935"/>
                  </a:cubicBezTo>
                  <a:cubicBezTo>
                    <a:pt x="232777" y="39205"/>
                    <a:pt x="37197" y="233515"/>
                    <a:pt x="37197" y="473545"/>
                  </a:cubicBezTo>
                  <a:lnTo>
                    <a:pt x="37197" y="13364999"/>
                  </a:lnTo>
                  <a:cubicBezTo>
                    <a:pt x="37197" y="13481840"/>
                    <a:pt x="82917" y="13592329"/>
                    <a:pt x="166737" y="13674879"/>
                  </a:cubicBezTo>
                  <a:cubicBezTo>
                    <a:pt x="212457" y="13719329"/>
                    <a:pt x="265797" y="13753619"/>
                    <a:pt x="328027" y="13775210"/>
                  </a:cubicBezTo>
                  <a:cubicBezTo>
                    <a:pt x="375017" y="13791719"/>
                    <a:pt x="424547" y="13800610"/>
                    <a:pt x="472807" y="13800610"/>
                  </a:cubicBezTo>
                  <a:lnTo>
                    <a:pt x="7732127" y="13800610"/>
                  </a:lnTo>
                  <a:lnTo>
                    <a:pt x="8645256" y="14302260"/>
                  </a:lnTo>
                  <a:close/>
                  <a:moveTo>
                    <a:pt x="21469261" y="14057149"/>
                  </a:moveTo>
                  <a:lnTo>
                    <a:pt x="8708757" y="14057149"/>
                  </a:lnTo>
                  <a:lnTo>
                    <a:pt x="7795627" y="13555499"/>
                  </a:lnTo>
                  <a:lnTo>
                    <a:pt x="1868537" y="13555499"/>
                  </a:lnTo>
                  <a:lnTo>
                    <a:pt x="805547" y="12232160"/>
                  </a:lnTo>
                  <a:lnTo>
                    <a:pt x="805547" y="5393525"/>
                  </a:lnTo>
                  <a:lnTo>
                    <a:pt x="283577" y="4825835"/>
                  </a:lnTo>
                  <a:lnTo>
                    <a:pt x="283577" y="2384895"/>
                  </a:lnTo>
                  <a:lnTo>
                    <a:pt x="805547" y="1817205"/>
                  </a:lnTo>
                  <a:lnTo>
                    <a:pt x="805547" y="806285"/>
                  </a:lnTo>
                  <a:lnTo>
                    <a:pt x="7137767" y="806285"/>
                  </a:lnTo>
                  <a:lnTo>
                    <a:pt x="7673707" y="284315"/>
                  </a:lnTo>
                  <a:lnTo>
                    <a:pt x="22304922" y="284315"/>
                  </a:lnTo>
                  <a:lnTo>
                    <a:pt x="22310001" y="288125"/>
                  </a:lnTo>
                  <a:lnTo>
                    <a:pt x="23037711" y="806285"/>
                  </a:lnTo>
                  <a:lnTo>
                    <a:pt x="28728579" y="806285"/>
                  </a:lnTo>
                  <a:lnTo>
                    <a:pt x="28733661" y="812635"/>
                  </a:lnTo>
                  <a:lnTo>
                    <a:pt x="29371201" y="1606385"/>
                  </a:lnTo>
                  <a:lnTo>
                    <a:pt x="29371201" y="12435360"/>
                  </a:lnTo>
                  <a:cubicBezTo>
                    <a:pt x="29371201" y="12435360"/>
                    <a:pt x="29893172" y="13003050"/>
                    <a:pt x="29893172" y="13003050"/>
                  </a:cubicBezTo>
                  <a:lnTo>
                    <a:pt x="29893172" y="13363729"/>
                  </a:lnTo>
                  <a:cubicBezTo>
                    <a:pt x="29893172" y="13469140"/>
                    <a:pt x="29805540" y="13555499"/>
                    <a:pt x="29701401" y="13554229"/>
                  </a:cubicBezTo>
                  <a:lnTo>
                    <a:pt x="22381120" y="13554229"/>
                  </a:lnTo>
                  <a:cubicBezTo>
                    <a:pt x="22381120" y="13554229"/>
                    <a:pt x="21466720" y="14055879"/>
                    <a:pt x="21466720" y="14055879"/>
                  </a:cubicBezTo>
                  <a:close/>
                  <a:moveTo>
                    <a:pt x="8717647" y="14020319"/>
                  </a:moveTo>
                  <a:lnTo>
                    <a:pt x="21459102" y="14020319"/>
                  </a:lnTo>
                  <a:lnTo>
                    <a:pt x="22373502" y="13518669"/>
                  </a:lnTo>
                  <a:lnTo>
                    <a:pt x="29709022" y="13518669"/>
                  </a:lnTo>
                  <a:cubicBezTo>
                    <a:pt x="29791572" y="13516129"/>
                    <a:pt x="29857611" y="13447549"/>
                    <a:pt x="29857611" y="13364999"/>
                  </a:cubicBezTo>
                  <a:lnTo>
                    <a:pt x="29857611" y="13018288"/>
                  </a:lnTo>
                  <a:lnTo>
                    <a:pt x="29335640" y="12450600"/>
                  </a:lnTo>
                  <a:lnTo>
                    <a:pt x="29335640" y="1620355"/>
                  </a:lnTo>
                  <a:cubicBezTo>
                    <a:pt x="29335640" y="1620355"/>
                    <a:pt x="28710801" y="843115"/>
                    <a:pt x="28710801" y="843115"/>
                  </a:cubicBezTo>
                  <a:lnTo>
                    <a:pt x="23025011" y="843115"/>
                  </a:lnTo>
                  <a:lnTo>
                    <a:pt x="23019931" y="839305"/>
                  </a:lnTo>
                  <a:lnTo>
                    <a:pt x="22292220" y="321145"/>
                  </a:lnTo>
                  <a:lnTo>
                    <a:pt x="7687677" y="321145"/>
                  </a:lnTo>
                  <a:lnTo>
                    <a:pt x="7151737" y="843115"/>
                  </a:lnTo>
                  <a:lnTo>
                    <a:pt x="842377" y="843115"/>
                  </a:lnTo>
                  <a:lnTo>
                    <a:pt x="842377" y="1832445"/>
                  </a:lnTo>
                  <a:lnTo>
                    <a:pt x="320407" y="2400135"/>
                  </a:lnTo>
                  <a:lnTo>
                    <a:pt x="320407" y="4811865"/>
                  </a:lnTo>
                  <a:lnTo>
                    <a:pt x="842377" y="5379555"/>
                  </a:lnTo>
                  <a:lnTo>
                    <a:pt x="842377" y="12219460"/>
                  </a:lnTo>
                  <a:lnTo>
                    <a:pt x="1886317" y="13518670"/>
                  </a:lnTo>
                  <a:lnTo>
                    <a:pt x="7805787" y="13518670"/>
                  </a:lnTo>
                  <a:lnTo>
                    <a:pt x="8718917" y="14020319"/>
                  </a:lnTo>
                  <a:close/>
                </a:path>
              </a:pathLst>
            </a:custGeom>
            <a:solidFill>
              <a:srgbClr val="3F2305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754051" y="376165"/>
            <a:ext cx="14779898" cy="1220978"/>
            <a:chOff x="0" y="0"/>
            <a:chExt cx="3892648" cy="3215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92648" cy="321574"/>
            </a:xfrm>
            <a:custGeom>
              <a:avLst/>
              <a:gdLst/>
              <a:ahLst/>
              <a:cxnLst/>
              <a:rect l="l" t="t" r="r" b="b"/>
              <a:pathLst>
                <a:path w="3892648" h="321574">
                  <a:moveTo>
                    <a:pt x="0" y="0"/>
                  </a:moveTo>
                  <a:lnTo>
                    <a:pt x="3892648" y="0"/>
                  </a:lnTo>
                  <a:lnTo>
                    <a:pt x="3892648" y="321574"/>
                  </a:lnTo>
                  <a:lnTo>
                    <a:pt x="0" y="321574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3892648" cy="426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699"/>
                </a:lnSpc>
              </a:pPr>
              <a:r>
                <a:rPr lang="en-US" sz="5499" b="1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The Contagion Effect Simulated In Matlab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2643" y="1437653"/>
            <a:ext cx="16866541" cy="7957492"/>
            <a:chOff x="0" y="0"/>
            <a:chExt cx="3298341" cy="15561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8341" cy="1556129"/>
            </a:xfrm>
            <a:custGeom>
              <a:avLst/>
              <a:gdLst/>
              <a:ahLst/>
              <a:cxnLst/>
              <a:rect l="l" t="t" r="r" b="b"/>
              <a:pathLst>
                <a:path w="3298341" h="1556129">
                  <a:moveTo>
                    <a:pt x="0" y="0"/>
                  </a:moveTo>
                  <a:lnTo>
                    <a:pt x="3298341" y="0"/>
                  </a:lnTo>
                  <a:lnTo>
                    <a:pt x="3298341" y="1556129"/>
                  </a:lnTo>
                  <a:lnTo>
                    <a:pt x="0" y="1556129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298341" cy="1584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802799"/>
            <a:ext cx="16640484" cy="6198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71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marL="586070" lvl="1" indent="-293035" algn="l">
              <a:lnSpc>
                <a:spcPts val="3800"/>
              </a:lnSpc>
              <a:buFont typeface="Arial"/>
              <a:buChar char="•"/>
            </a:pPr>
            <a:r>
              <a:rPr lang="en-US" sz="27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research proposes AI-powered system  which combines combines acoustic sensing, camera-based detection, and solar power to provide a low-cost, intelligent, as well as sustainable approach to crop protection.</a:t>
            </a:r>
          </a:p>
          <a:p>
            <a:pPr marL="586070" lvl="1" indent="-293035" algn="l">
              <a:lnSpc>
                <a:spcPts val="3800"/>
              </a:lnSpc>
              <a:buFont typeface="Arial"/>
              <a:buChar char="•"/>
            </a:pPr>
            <a:r>
              <a:rPr lang="en-US" sz="27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Targeted bird detection and deterrence can reduce crop loss and preserve revenue while making the system more adaptable to different field conditions.</a:t>
            </a:r>
          </a:p>
          <a:p>
            <a:pPr algn="l">
              <a:lnSpc>
                <a:spcPts val="3800"/>
              </a:lnSpc>
            </a:pPr>
            <a:endParaRPr lang="en-US" sz="2714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800"/>
              </a:lnSpc>
            </a:pPr>
            <a:r>
              <a:rPr lang="en-US" sz="271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Recommendation</a:t>
            </a:r>
          </a:p>
          <a:p>
            <a:pPr marL="586070" lvl="1" indent="-293035" algn="l">
              <a:lnSpc>
                <a:spcPts val="3800"/>
              </a:lnSpc>
              <a:buFont typeface="Arial"/>
              <a:buChar char="•"/>
            </a:pPr>
            <a:r>
              <a:rPr lang="en-US" sz="27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experiments should measure whether detecting birds actually reduces their presence or prevents crop damage. Different deterrence responses could be tested, such as audio signals, visual signals, or other non-harmful deterrence mechanisms</a:t>
            </a:r>
          </a:p>
          <a:p>
            <a:pPr marL="586070" lvl="1" indent="-293035" algn="l">
              <a:lnSpc>
                <a:spcPts val="3800"/>
              </a:lnSpc>
              <a:buFont typeface="Arial"/>
              <a:buChar char="•"/>
            </a:pPr>
            <a:r>
              <a:rPr lang="en-US" sz="27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should be tested during day and night, different weather conditions, different bird distances, and varying levels of background noise.</a:t>
            </a:r>
          </a:p>
          <a:p>
            <a:pPr algn="l">
              <a:lnSpc>
                <a:spcPts val="3800"/>
              </a:lnSpc>
            </a:pPr>
            <a:endParaRPr lang="en-US" sz="2714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66604" y="618503"/>
            <a:ext cx="15154792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and Recommendations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245155"/>
            <a:ext cx="1605285" cy="1192498"/>
          </a:xfrm>
          <a:custGeom>
            <a:avLst/>
            <a:gdLst/>
            <a:ahLst/>
            <a:cxnLst/>
            <a:rect l="l" t="t" r="r" b="b"/>
            <a:pathLst>
              <a:path w="1605285" h="1192498">
                <a:moveTo>
                  <a:pt x="0" y="0"/>
                </a:moveTo>
                <a:lnTo>
                  <a:pt x="1605285" y="0"/>
                </a:lnTo>
                <a:lnTo>
                  <a:pt x="1605285" y="1192498"/>
                </a:lnTo>
                <a:lnTo>
                  <a:pt x="0" y="1192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2643" y="1766992"/>
            <a:ext cx="16866541" cy="7957492"/>
            <a:chOff x="0" y="0"/>
            <a:chExt cx="3298341" cy="15561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8341" cy="1556129"/>
            </a:xfrm>
            <a:custGeom>
              <a:avLst/>
              <a:gdLst/>
              <a:ahLst/>
              <a:cxnLst/>
              <a:rect l="l" t="t" r="r" b="b"/>
              <a:pathLst>
                <a:path w="3298341" h="1556129">
                  <a:moveTo>
                    <a:pt x="0" y="0"/>
                  </a:moveTo>
                  <a:lnTo>
                    <a:pt x="3298341" y="0"/>
                  </a:lnTo>
                  <a:lnTo>
                    <a:pt x="3298341" y="1556129"/>
                  </a:lnTo>
                  <a:lnTo>
                    <a:pt x="0" y="1556129"/>
                  </a:lnTo>
                  <a:close/>
                </a:path>
              </a:pathLst>
            </a:custGeom>
            <a:solidFill>
              <a:srgbClr val="535B2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298341" cy="1603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690792"/>
            <a:ext cx="16640484" cy="810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7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S. O. Ooko, E. Ndashimye, E. Twahirwa, and M. Busogi, “IoT and machine learning for smart bird monitoring and repellence: Techniques, challenges, and opportunities,” </a:t>
            </a:r>
            <a:r>
              <a:rPr lang="en-US" sz="2714" i="1">
                <a:solidFill>
                  <a:srgbClr val="FFFFFF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IoT</a:t>
            </a:r>
            <a:r>
              <a:rPr lang="en-US" sz="27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6, no. 3, Art. no. 46, Aug. 2025, doi: 10.3390/iot6030046. </a:t>
            </a:r>
          </a:p>
          <a:p>
            <a:pPr algn="l">
              <a:lnSpc>
                <a:spcPts val="3800"/>
              </a:lnSpc>
            </a:pPr>
            <a:r>
              <a:rPr lang="en-US" sz="27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H. Ritchie, “Smallholders produce one-third of the world’s food, less than half of what many headlines claim,” </a:t>
            </a:r>
            <a:r>
              <a:rPr lang="en-US" sz="2714" i="1">
                <a:solidFill>
                  <a:srgbClr val="FFFFFF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Our World in Data</a:t>
            </a:r>
            <a:r>
              <a:rPr lang="en-US" sz="27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Aug. 6, 2021. [Online]. Available: </a:t>
            </a:r>
            <a:r>
              <a:rPr lang="en-US" sz="2714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 tooltip="https://ourworldindata.org/smallholder-food-production?utm_source=chatgpt.com"/>
              </a:rPr>
              <a:t>https://ourworldindata.org/smallholder-food-production</a:t>
            </a:r>
          </a:p>
          <a:p>
            <a:pPr algn="l">
              <a:lnSpc>
                <a:spcPts val="3800"/>
              </a:lnSpc>
            </a:pPr>
            <a:r>
              <a:rPr lang="en-US" sz="2714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7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3] Food and Agriculture Organization of the United Nations, “One pest, many risks: Quelea birds and the case for safer control,” Jun. 23, 2025. [Online]. Available: </a:t>
            </a:r>
            <a:r>
              <a:rPr lang="en-US" sz="2714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tooltip="https://www.fao.org/one-health/highlights/quelea-birds-and-the-case-for-safer-control/en?utm_source=chatgpt.com"/>
              </a:rPr>
              <a:t>https://www.fao.org/one-health/highlights/quelea-birds-and-the-case-for-safer-control/en</a:t>
            </a:r>
            <a:r>
              <a:rPr lang="en-US" sz="2714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7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[Accessed: Sep. 16, 2026].</a:t>
            </a:r>
          </a:p>
          <a:p>
            <a:pPr algn="l">
              <a:lnSpc>
                <a:spcPts val="3800"/>
              </a:lnSpc>
            </a:pPr>
            <a:r>
              <a:rPr lang="en-US" sz="27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S. Heo, N. Baumann, C. Margelisch, M. Giordano, and M. Magno, “Low-cost smart raven deterrent system with tiny machine learning for smart agriculture,” </a:t>
            </a:r>
            <a:r>
              <a:rPr lang="en-US" sz="2714" i="1">
                <a:solidFill>
                  <a:srgbClr val="FFFFFF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in Proc. 2023 IEEE Int. Instrum. Meas. Technol. Conf. (I2MTC),</a:t>
            </a:r>
            <a:r>
              <a:rPr lang="en-US" sz="27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Kuala Lumpur, Malaysia, May 2023, pp. 1–6, doi: 10.1109/I2MTC53148.2023.10175902. </a:t>
            </a:r>
          </a:p>
          <a:p>
            <a:pPr algn="l">
              <a:lnSpc>
                <a:spcPts val="3800"/>
              </a:lnSpc>
            </a:pPr>
            <a:r>
              <a:rPr lang="en-US" sz="27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Y. de Mey, M. Demont, and M. Diagne, “Estimating bird damage to rice in Africa: Evidence from the Senegal River Valley,” </a:t>
            </a:r>
            <a:r>
              <a:rPr lang="en-US" sz="2714" i="1">
                <a:solidFill>
                  <a:srgbClr val="FFFFFF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J. Agric. Econ.</a:t>
            </a:r>
            <a:r>
              <a:rPr lang="en-US" sz="27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63, no. 1, pp. 175–200, Feb. 2012, doi: 10.1111/j.1477-9552.2011.00323.x. </a:t>
            </a:r>
          </a:p>
          <a:p>
            <a:pPr algn="l">
              <a:lnSpc>
                <a:spcPts val="3800"/>
              </a:lnSpc>
            </a:pPr>
            <a:r>
              <a:rPr lang="en-US" sz="27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S. Heo, N. Baumann, C. Margelisch, M. Giordano, and M. Magno, “Low-cost smart raven deterrent system with tiny machine learning for smart agriculture,” in </a:t>
            </a:r>
            <a:r>
              <a:rPr lang="en-US" sz="2714" i="1">
                <a:solidFill>
                  <a:srgbClr val="FFFFFF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Proc. 2023 IEEE Int. Instrum. Meas. Technol. Conf. (I2MTC)</a:t>
            </a:r>
            <a:r>
              <a:rPr lang="en-US" sz="27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Kuala Lumpur, Malaysia, May 22–25, 2023, pp. 1–6, doi: 10.1109/I2MTC53148.2023.10175902. </a:t>
            </a:r>
          </a:p>
          <a:p>
            <a:pPr algn="l">
              <a:lnSpc>
                <a:spcPts val="3800"/>
              </a:lnSpc>
            </a:pPr>
            <a:endParaRPr lang="en-US" sz="2714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44706" y="618503"/>
            <a:ext cx="7198589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535B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References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245155"/>
            <a:ext cx="1605285" cy="1192498"/>
          </a:xfrm>
          <a:custGeom>
            <a:avLst/>
            <a:gdLst/>
            <a:ahLst/>
            <a:cxnLst/>
            <a:rect l="l" t="t" r="r" b="b"/>
            <a:pathLst>
              <a:path w="1605285" h="1192498">
                <a:moveTo>
                  <a:pt x="0" y="0"/>
                </a:moveTo>
                <a:lnTo>
                  <a:pt x="1605285" y="0"/>
                </a:lnTo>
                <a:lnTo>
                  <a:pt x="1605285" y="1192498"/>
                </a:lnTo>
                <a:lnTo>
                  <a:pt x="0" y="1192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06006" y="2843780"/>
            <a:ext cx="14629599" cy="3308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22"/>
              </a:lnSpc>
              <a:spcBef>
                <a:spcPct val="0"/>
              </a:spcBef>
            </a:pPr>
            <a:r>
              <a:rPr lang="en-US" sz="19372" b="1">
                <a:solidFill>
                  <a:srgbClr val="535B29"/>
                </a:solidFill>
                <a:latin typeface="Inter Bold"/>
                <a:ea typeface="Inter Bold"/>
                <a:cs typeface="Inter Bold"/>
                <a:sym typeface="Inter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1371</Words>
  <Application>Microsoft Office PowerPoint</Application>
  <PresentationFormat>Custom</PresentationFormat>
  <Paragraphs>123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Work Sans</vt:lpstr>
      <vt:lpstr>Times New Roman</vt:lpstr>
      <vt:lpstr>Inter Bold</vt:lpstr>
      <vt:lpstr>Calibri</vt:lpstr>
      <vt:lpstr>Arial</vt:lpstr>
      <vt:lpstr>Work Sans Bold</vt:lpstr>
      <vt:lpstr>League Spartan</vt:lpstr>
      <vt:lpstr>Times New Roman Italics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Agrivision-Africa</dc:title>
  <cp:lastModifiedBy>12345</cp:lastModifiedBy>
  <cp:revision>2</cp:revision>
  <dcterms:created xsi:type="dcterms:W3CDTF">2006-08-16T00:00:00Z</dcterms:created>
  <dcterms:modified xsi:type="dcterms:W3CDTF">2026-09-16T15:31:23Z</dcterms:modified>
  <dc:identifier>DAHVL2MGUnc</dc:identifier>
</cp:coreProperties>
</file>